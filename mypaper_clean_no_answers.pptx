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500" b="1" i="0">
                <a:solidFill>
                  <a:srgbClr val="FF0000"/>
                </a:solidFill>
                <a:latin typeface="SimSun"/>
              </a:rPr>
              <a:t>小学语文阅读答题技巧训练小纸条总表阅读答题技巧熟记技巧认真审题规范作答你本来就很棒阅读答题技巧小纸条专题一--说明文（1）</a:t>
            </a:r>
          </a:p>
          <a:p>
            <a:pPr algn="l">
              <a:lnSpc>
                <a:spcPct val="100000"/>
              </a:lnSpc>
              <a:spcBef>
                <a:spcPts val="0"/>
              </a:spcBef>
              <a:spcAft>
                <a:spcPts val="500"/>
              </a:spcAft>
            </a:pPr>
            <a:r>
              <a:rPr sz="2500" b="1" i="0">
                <a:solidFill>
                  <a:srgbClr val="EF939E"/>
                </a:solidFill>
                <a:latin typeface="Calibri"/>
              </a:rPr>
              <a:t>【图表占位：请参照原 PDF 图表】</a:t>
            </a:r>
          </a:p>
          <a:p>
            <a:pPr algn="l">
              <a:lnSpc>
                <a:spcPct val="100000"/>
              </a:lnSpc>
              <a:spcBef>
                <a:spcPts val="0"/>
              </a:spcBef>
              <a:spcAft>
                <a:spcPts val="500"/>
              </a:spcAft>
            </a:pPr>
            <a:r>
              <a:rPr sz="2500" b="1" i="0">
                <a:solidFill>
                  <a:srgbClr val="EE822F"/>
                </a:solidFill>
                <a:latin typeface="SimSun"/>
              </a:rPr>
              <a:t>记叙文</a:t>
            </a:r>
          </a:p>
          <a:p>
            <a:pPr algn="l">
              <a:lnSpc>
                <a:spcPct val="100000"/>
              </a:lnSpc>
              <a:spcBef>
                <a:spcPts val="0"/>
              </a:spcBef>
              <a:spcAft>
                <a:spcPts val="500"/>
              </a:spcAft>
            </a:pPr>
            <a:r>
              <a:rPr sz="2500" b="1" i="0">
                <a:solidFill>
                  <a:srgbClr val="C55E10"/>
                </a:solidFill>
                <a:latin typeface="SimSun"/>
              </a:rPr>
              <a:t>【图表占位：请参照原 PDF 图表】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800" b="1" i="0">
                <a:solidFill>
                  <a:srgbClr val="FF0000"/>
                </a:solidFill>
                <a:latin typeface="SimSun"/>
              </a:rPr>
              <a:t>阅读答题技巧小纸条专题一--说明文（2）</a:t>
            </a:r>
          </a:p>
          <a:p>
            <a:pPr algn="l">
              <a:lnSpc>
                <a:spcPct val="100000"/>
              </a:lnSpc>
              <a:spcBef>
                <a:spcPts val="0"/>
              </a:spcBef>
              <a:spcAft>
                <a:spcPts val="500"/>
              </a:spcAft>
            </a:pPr>
            <a:r>
              <a:rPr sz="1800" b="1" i="0">
                <a:solidFill>
                  <a:srgbClr val="C55E10"/>
                </a:solidFill>
                <a:latin typeface="SimSun"/>
              </a:rPr>
              <a:t>【图表占位：请参照原 PDF 图表】</a:t>
            </a:r>
          </a:p>
          <a:p>
            <a:pPr algn="l">
              <a:lnSpc>
                <a:spcPct val="100000"/>
              </a:lnSpc>
              <a:spcBef>
                <a:spcPts val="0"/>
              </a:spcBef>
              <a:spcAft>
                <a:spcPts val="500"/>
              </a:spcAft>
            </a:pPr>
            <a:r>
              <a:rPr sz="1500" b="0" i="0">
                <a:solidFill>
                  <a:srgbClr val="FF0000"/>
                </a:solidFill>
                <a:latin typeface="SimSun"/>
              </a:rPr>
              <a:t>一、定义:从数量上说明了事物特征或事理的方法，使语句更准确，更科学，更具体，更有说服力。
二、例题：云能预示天气。比如，在新疆地区，出现云就代表将要下雨。--朱泳燚《看云识天气》
三、答题模板：</a:t>
            </a:r>
          </a:p>
          <a:p>
            <a:pPr algn="l">
              <a:lnSpc>
                <a:spcPct val="100000"/>
              </a:lnSpc>
              <a:spcBef>
                <a:spcPts val="0"/>
              </a:spcBef>
              <a:spcAft>
                <a:spcPts val="500"/>
              </a:spcAft>
            </a:pPr>
            <a:r>
              <a:rPr sz="1500" b="0" i="0">
                <a:solidFill>
                  <a:srgbClr val="000000"/>
                </a:solidFill>
                <a:latin typeface="SimSun"/>
              </a:rPr>
              <a:t>运用了举例子的说明方法，举出**具体形象/真实贴切的例子，说明了**事物的**特征/事理，使说明更有说服力。例题作答：</a:t>
            </a:r>
          </a:p>
          <a:p>
            <a:pPr algn="l">
              <a:lnSpc>
                <a:spcPct val="100000"/>
              </a:lnSpc>
              <a:spcBef>
                <a:spcPts val="0"/>
              </a:spcBef>
              <a:spcAft>
                <a:spcPts val="500"/>
              </a:spcAft>
            </a:pPr>
            <a:r>
              <a:rPr sz="1500" b="0" i="0">
                <a:solidFill>
                  <a:srgbClr val="000000"/>
                </a:solidFill>
                <a:latin typeface="SimSun"/>
              </a:rPr>
              <a:t>【巩固训练】</a:t>
            </a:r>
          </a:p>
          <a:p>
            <a:pPr algn="l">
              <a:lnSpc>
                <a:spcPct val="100000"/>
              </a:lnSpc>
              <a:spcBef>
                <a:spcPts val="0"/>
              </a:spcBef>
              <a:spcAft>
                <a:spcPts val="500"/>
              </a:spcAft>
            </a:pPr>
            <a:r>
              <a:rPr sz="1500" b="0" i="0">
                <a:solidFill>
                  <a:srgbClr val="000000"/>
                </a:solidFill>
                <a:latin typeface="SimSun"/>
              </a:rPr>
              <a:t>塑料袋的发明虽然只有100 多年，但是它对环境的危害已经显而易见了，它所堵塞的也不仅仅是动物的消化道了。1998 年8 月重庆市由于嘉陵江、长江上取水口被塑料袋堵塞，好几家自来水厂停产减产，害得重庆市民守着两条大江没水喝。</a:t>
            </a:r>
          </a:p>
          <a:p>
            <a:pPr algn="l">
              <a:lnSpc>
                <a:spcPct val="100000"/>
              </a:lnSpc>
              <a:spcBef>
                <a:spcPts val="0"/>
              </a:spcBef>
              <a:spcAft>
                <a:spcPts val="500"/>
              </a:spcAft>
            </a:pPr>
            <a:r>
              <a:rPr sz="1500" b="0" i="0">
                <a:solidFill>
                  <a:srgbClr val="000000"/>
                </a:solidFill>
                <a:latin typeface="SimSun"/>
              </a:rPr>
              <a:t>请从说明角度赏析文段。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800" b="1" i="0">
                <a:solidFill>
                  <a:srgbClr val="FF0000"/>
                </a:solidFill>
                <a:latin typeface="SimSun"/>
              </a:rPr>
              <a:t>阅读答题技巧小纸条专题一--说明文（3）</a:t>
            </a:r>
          </a:p>
          <a:p>
            <a:pPr algn="l">
              <a:lnSpc>
                <a:spcPct val="100000"/>
              </a:lnSpc>
              <a:spcBef>
                <a:spcPts val="0"/>
              </a:spcBef>
              <a:spcAft>
                <a:spcPts val="500"/>
              </a:spcAft>
            </a:pPr>
            <a:r>
              <a:rPr sz="1800" b="1" i="0">
                <a:solidFill>
                  <a:srgbClr val="C55E10"/>
                </a:solidFill>
                <a:latin typeface="SimSun"/>
              </a:rPr>
              <a:t>【图表占位：请参照原 PDF 图表】</a:t>
            </a:r>
          </a:p>
          <a:p>
            <a:pPr algn="l">
              <a:lnSpc>
                <a:spcPct val="100000"/>
              </a:lnSpc>
              <a:spcBef>
                <a:spcPts val="0"/>
              </a:spcBef>
              <a:spcAft>
                <a:spcPts val="500"/>
              </a:spcAft>
            </a:pPr>
            <a:r>
              <a:rPr sz="1500" b="0" i="0">
                <a:solidFill>
                  <a:srgbClr val="FF0000"/>
                </a:solidFill>
                <a:latin typeface="SimSun"/>
              </a:rPr>
              <a:t>一、定义:将两种类别相同或不同的事物、现象等加以比较来说明事物特征的说明方法，作用是突出强调事物的某种特征。
二、例题：“我们看太阳，觉得它并不大，实际上它大得很，130 万个地球才能抵得上一个太阳。”
三、答题模板：</a:t>
            </a:r>
          </a:p>
          <a:p>
            <a:pPr algn="l">
              <a:lnSpc>
                <a:spcPct val="100000"/>
              </a:lnSpc>
              <a:spcBef>
                <a:spcPts val="0"/>
              </a:spcBef>
              <a:spcAft>
                <a:spcPts val="500"/>
              </a:spcAft>
            </a:pPr>
            <a:r>
              <a:rPr sz="1500" b="0" i="0">
                <a:solidFill>
                  <a:srgbClr val="000000"/>
                </a:solidFill>
                <a:latin typeface="SimSun"/>
              </a:rPr>
              <a:t>运用了作比较的说明方法，把……和……作比较，突出说明了（说明对象）……的特征（道理），让读者留下具体清晰的印象。例题作答：</a:t>
            </a:r>
          </a:p>
          <a:p>
            <a:pPr algn="l">
              <a:lnSpc>
                <a:spcPct val="100000"/>
              </a:lnSpc>
              <a:spcBef>
                <a:spcPts val="0"/>
              </a:spcBef>
              <a:spcAft>
                <a:spcPts val="500"/>
              </a:spcAft>
            </a:pPr>
            <a:r>
              <a:rPr sz="1500" b="0" i="0">
                <a:solidFill>
                  <a:srgbClr val="000000"/>
                </a:solidFill>
                <a:latin typeface="SimSun"/>
              </a:rPr>
              <a:t>【巩固训练】</a:t>
            </a:r>
          </a:p>
          <a:p>
            <a:pPr algn="l">
              <a:lnSpc>
                <a:spcPct val="100000"/>
              </a:lnSpc>
              <a:spcBef>
                <a:spcPts val="0"/>
              </a:spcBef>
              <a:spcAft>
                <a:spcPts val="500"/>
              </a:spcAft>
            </a:pPr>
            <a:r>
              <a:rPr sz="1500" b="0" i="0">
                <a:solidFill>
                  <a:srgbClr val="000000"/>
                </a:solidFill>
                <a:latin typeface="SimSun"/>
              </a:rPr>
              <a:t>我们每天呼吸的空气，其密度随离海平面距离的升高而减小，到达100 公里以上的高度，已逐渐成为真空。地球表面的大气层中，每立方厘米中含有10000 兆个氮分子和氧分子，而在太阳系宇宙空间，纯净无污染，每立方厘米只有0.1 个氢原子。
--《开发太空资源宝库》画横线的句子运用了什么说明方法？请赏析。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800" b="1" i="0">
                <a:solidFill>
                  <a:srgbClr val="FF0000"/>
                </a:solidFill>
                <a:latin typeface="SimSun"/>
              </a:rPr>
              <a:t>阅读答题技巧小纸条专题一--说明文（4）</a:t>
            </a:r>
          </a:p>
          <a:p>
            <a:pPr algn="l">
              <a:lnSpc>
                <a:spcPct val="100000"/>
              </a:lnSpc>
              <a:spcBef>
                <a:spcPts val="0"/>
              </a:spcBef>
              <a:spcAft>
                <a:spcPts val="500"/>
              </a:spcAft>
            </a:pPr>
            <a:r>
              <a:rPr sz="1800" b="1" i="0">
                <a:solidFill>
                  <a:srgbClr val="C55E10"/>
                </a:solidFill>
                <a:latin typeface="SimSun"/>
              </a:rPr>
              <a:t>【图表占位：请参照原 PDF 图表】</a:t>
            </a:r>
          </a:p>
          <a:p>
            <a:pPr algn="l">
              <a:lnSpc>
                <a:spcPct val="100000"/>
              </a:lnSpc>
              <a:spcBef>
                <a:spcPts val="0"/>
              </a:spcBef>
              <a:spcAft>
                <a:spcPts val="500"/>
              </a:spcAft>
            </a:pPr>
            <a:r>
              <a:rPr sz="1800" b="1" i="0">
                <a:solidFill>
                  <a:srgbClr val="FF0000"/>
                </a:solidFill>
                <a:latin typeface="SimSun"/>
              </a:rPr>
              <a:t>阅读答题技巧小纸条专题一--说明文（5）</a:t>
            </a:r>
          </a:p>
          <a:p>
            <a:pPr algn="l">
              <a:lnSpc>
                <a:spcPct val="100000"/>
              </a:lnSpc>
              <a:spcBef>
                <a:spcPts val="0"/>
              </a:spcBef>
              <a:spcAft>
                <a:spcPts val="500"/>
              </a:spcAft>
            </a:pPr>
            <a:r>
              <a:rPr sz="1800" b="1" i="0">
                <a:solidFill>
                  <a:srgbClr val="C55E10"/>
                </a:solidFill>
                <a:latin typeface="SimSun"/>
              </a:rPr>
              <a:t>【2、常见题型：“**”词能不能删？为什么？】</a:t>
            </a:r>
          </a:p>
          <a:p>
            <a:pPr algn="l">
              <a:lnSpc>
                <a:spcPct val="100000"/>
              </a:lnSpc>
              <a:spcBef>
                <a:spcPts val="0"/>
              </a:spcBef>
              <a:spcAft>
                <a:spcPts val="500"/>
              </a:spcAft>
            </a:pPr>
            <a:r>
              <a:rPr sz="1500" b="0" i="0">
                <a:solidFill>
                  <a:srgbClr val="FF0000"/>
                </a:solidFill>
                <a:latin typeface="SimSun"/>
              </a:rPr>
              <a:t>一、例题：如果叶片闭合慢，张开还原快，则说明明天可能会下雨。
--《能预报天气的植物》
三、答题模板：</a:t>
            </a:r>
          </a:p>
          <a:p>
            <a:pPr algn="l">
              <a:lnSpc>
                <a:spcPct val="100000"/>
              </a:lnSpc>
              <a:spcBef>
                <a:spcPts val="0"/>
              </a:spcBef>
              <a:spcAft>
                <a:spcPts val="500"/>
              </a:spcAft>
            </a:pPr>
            <a:r>
              <a:rPr sz="1500" b="0" i="0">
                <a:solidFill>
                  <a:srgbClr val="000000"/>
                </a:solidFill>
                <a:latin typeface="SimSun"/>
              </a:rPr>
              <a:t>不能删去。“xx”的意思是……,写出了……。如果删去，意思发生改变（可结合句子），与事实不符，这里体现了说明文语言的准确性，严谨性和科学性。（不能删去的词语一般起限定时间、程度、数量、范围，表估计或推测的作用。）</a:t>
            </a:r>
          </a:p>
          <a:p>
            <a:pPr algn="l">
              <a:lnSpc>
                <a:spcPct val="100000"/>
              </a:lnSpc>
              <a:spcBef>
                <a:spcPts val="0"/>
              </a:spcBef>
              <a:spcAft>
                <a:spcPts val="500"/>
              </a:spcAft>
            </a:pPr>
            <a:r>
              <a:rPr sz="1500" b="0" i="0">
                <a:solidFill>
                  <a:srgbClr val="FF0000"/>
                </a:solidFill>
                <a:latin typeface="SimSun"/>
              </a:rPr>
              <a:t>例题作答：</a:t>
            </a:r>
          </a:p>
          <a:p>
            <a:pPr algn="l">
              <a:lnSpc>
                <a:spcPct val="100000"/>
              </a:lnSpc>
              <a:spcBef>
                <a:spcPts val="0"/>
              </a:spcBef>
              <a:spcAft>
                <a:spcPts val="500"/>
              </a:spcAft>
            </a:pPr>
            <a:r>
              <a:rPr sz="1500" b="0" i="0">
                <a:solidFill>
                  <a:srgbClr val="000000"/>
                </a:solidFill>
                <a:latin typeface="SimSun"/>
              </a:rPr>
              <a:t>【巩固训练】</a:t>
            </a:r>
          </a:p>
          <a:p>
            <a:pPr algn="l">
              <a:lnSpc>
                <a:spcPct val="100000"/>
              </a:lnSpc>
              <a:spcBef>
                <a:spcPts val="0"/>
              </a:spcBef>
              <a:spcAft>
                <a:spcPts val="500"/>
              </a:spcAft>
            </a:pPr>
            <a:r>
              <a:rPr sz="1500" b="0" i="0">
                <a:solidFill>
                  <a:srgbClr val="000000"/>
                </a:solidFill>
                <a:latin typeface="SimSun"/>
              </a:rPr>
              <a:t>许多人或许没有意识到，太空将逐步成为人类赖以生存的巨大的资源宝库。目前．．研究已经知道，月球和其他行星上，存在着大量的铁、硅等资源。而且，人类进入地球轨道和外层空间后会发现，资源不仅是人们传统意义上理解的矿藏，特殊的环境和条件也是人类可以利用的重要资源。</a:t>
            </a:r>
          </a:p>
          <a:p>
            <a:pPr algn="l">
              <a:lnSpc>
                <a:spcPct val="100000"/>
              </a:lnSpc>
              <a:spcBef>
                <a:spcPts val="0"/>
              </a:spcBef>
              <a:spcAft>
                <a:spcPts val="500"/>
              </a:spcAft>
            </a:pPr>
            <a:r>
              <a:rPr sz="1500" b="0" i="0">
                <a:solidFill>
                  <a:srgbClr val="000000"/>
                </a:solidFill>
                <a:latin typeface="Calibri"/>
              </a:rPr>
              <a:t>--《开发太空资源宝库》</a:t>
            </a:r>
          </a:p>
          <a:p>
            <a:pPr algn="l">
              <a:lnSpc>
                <a:spcPct val="100000"/>
              </a:lnSpc>
              <a:spcBef>
                <a:spcPts val="0"/>
              </a:spcBef>
              <a:spcAft>
                <a:spcPts val="500"/>
              </a:spcAft>
            </a:pPr>
            <a:r>
              <a:rPr sz="1500" b="0" i="0">
                <a:solidFill>
                  <a:srgbClr val="000000"/>
                </a:solidFill>
                <a:latin typeface="SimSun"/>
              </a:rPr>
              <a:t>加点词的“目前”能否去掉?为什么?</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800" b="1" i="0">
                <a:solidFill>
                  <a:srgbClr val="FF0000"/>
                </a:solidFill>
                <a:latin typeface="SimSun"/>
              </a:rPr>
              <a:t>阅读答题技巧小纸条专题一--说明文（6）</a:t>
            </a:r>
          </a:p>
          <a:p>
            <a:pPr algn="l">
              <a:lnSpc>
                <a:spcPct val="100000"/>
              </a:lnSpc>
              <a:spcBef>
                <a:spcPts val="0"/>
              </a:spcBef>
              <a:spcAft>
                <a:spcPts val="500"/>
              </a:spcAft>
            </a:pPr>
            <a:r>
              <a:rPr sz="1800" b="1" i="0">
                <a:solidFill>
                  <a:srgbClr val="C55E10"/>
                </a:solidFill>
                <a:latin typeface="SimSun"/>
              </a:rPr>
              <a:t>【3、常见题型：“xx”词能不能换成“xx”？为什么？】</a:t>
            </a:r>
          </a:p>
          <a:p>
            <a:pPr algn="l">
              <a:lnSpc>
                <a:spcPct val="100000"/>
              </a:lnSpc>
              <a:spcBef>
                <a:spcPts val="0"/>
              </a:spcBef>
              <a:spcAft>
                <a:spcPts val="500"/>
              </a:spcAft>
            </a:pPr>
            <a:r>
              <a:rPr sz="1500" b="0" i="0">
                <a:solidFill>
                  <a:srgbClr val="FF0000"/>
                </a:solidFill>
                <a:latin typeface="SimSun"/>
              </a:rPr>
              <a:t>一、例题：斑马线是城市中一道不可或缺的风景。唯有守法守序，才是对这道风景的最好守护——
这，需要每一个人的努力。
--《不可或缺的城市风景——斑马线》
二、答题模板：</a:t>
            </a:r>
          </a:p>
          <a:p>
            <a:pPr algn="l">
              <a:lnSpc>
                <a:spcPct val="100000"/>
              </a:lnSpc>
              <a:spcBef>
                <a:spcPts val="0"/>
              </a:spcBef>
              <a:spcAft>
                <a:spcPts val="500"/>
              </a:spcAft>
            </a:pPr>
            <a:r>
              <a:rPr sz="1500" b="0" i="0">
                <a:solidFill>
                  <a:srgbClr val="000000"/>
                </a:solidFill>
                <a:latin typeface="SimSun"/>
              </a:rPr>
              <a:t>不能换。“xx”的意思是……,这句话写出了……。“xx”（所换次）的意思是……,这句话变成了……，意思有所改变,与实际情况不符。“xx”一次的使用体现了说明文语言的准确性、严谨性。</a:t>
            </a:r>
          </a:p>
          <a:p>
            <a:pPr algn="l">
              <a:lnSpc>
                <a:spcPct val="100000"/>
              </a:lnSpc>
              <a:spcBef>
                <a:spcPts val="0"/>
              </a:spcBef>
              <a:spcAft>
                <a:spcPts val="500"/>
              </a:spcAft>
            </a:pPr>
            <a:r>
              <a:rPr sz="1500" b="0" i="0">
                <a:solidFill>
                  <a:srgbClr val="FF0000"/>
                </a:solidFill>
                <a:latin typeface="SimSun"/>
              </a:rPr>
              <a:t>例题作答：</a:t>
            </a:r>
          </a:p>
          <a:p>
            <a:pPr algn="l">
              <a:lnSpc>
                <a:spcPct val="100000"/>
              </a:lnSpc>
              <a:spcBef>
                <a:spcPts val="0"/>
              </a:spcBef>
              <a:spcAft>
                <a:spcPts val="500"/>
              </a:spcAft>
            </a:pPr>
            <a:r>
              <a:rPr sz="1500" b="0" i="0">
                <a:solidFill>
                  <a:srgbClr val="000000"/>
                </a:solidFill>
                <a:latin typeface="SimSun"/>
              </a:rPr>
              <a:t>【巩固训练】</a:t>
            </a:r>
          </a:p>
          <a:p>
            <a:pPr algn="l">
              <a:lnSpc>
                <a:spcPct val="100000"/>
              </a:lnSpc>
              <a:spcBef>
                <a:spcPts val="0"/>
              </a:spcBef>
              <a:spcAft>
                <a:spcPts val="500"/>
              </a:spcAft>
            </a:pPr>
            <a:r>
              <a:rPr sz="1500" b="0" i="0">
                <a:solidFill>
                  <a:srgbClr val="000000"/>
                </a:solidFill>
                <a:latin typeface="SimSun"/>
              </a:rPr>
              <a:t>由于有这么多特点，在飞机机毁人亡后，“黑匣子”往往是唯一．．的“幸存者”，即使“黑匣子”</a:t>
            </a:r>
          </a:p>
          <a:p>
            <a:pPr algn="l">
              <a:lnSpc>
                <a:spcPct val="100000"/>
              </a:lnSpc>
              <a:spcBef>
                <a:spcPts val="0"/>
              </a:spcBef>
              <a:spcAft>
                <a:spcPts val="500"/>
              </a:spcAft>
            </a:pPr>
            <a:r>
              <a:rPr sz="1500" b="0" i="0">
                <a:solidFill>
                  <a:srgbClr val="000000"/>
                </a:solidFill>
                <a:latin typeface="SimSun"/>
              </a:rPr>
              <a:t>随飞机残骸散落在丛林、沙漠、海底、深谷等人迹罕至的地方，也能迅速被人发现寻获。</a:t>
            </a:r>
          </a:p>
          <a:p>
            <a:pPr algn="l">
              <a:lnSpc>
                <a:spcPct val="100000"/>
              </a:lnSpc>
              <a:spcBef>
                <a:spcPts val="0"/>
              </a:spcBef>
              <a:spcAft>
                <a:spcPts val="500"/>
              </a:spcAft>
            </a:pPr>
            <a:r>
              <a:rPr sz="1500" b="0" i="0">
                <a:solidFill>
                  <a:srgbClr val="000000"/>
                </a:solidFill>
                <a:latin typeface="Calibri"/>
              </a:rPr>
              <a:t>--《黑匣子》</a:t>
            </a:r>
          </a:p>
          <a:p>
            <a:pPr algn="l">
              <a:lnSpc>
                <a:spcPct val="100000"/>
              </a:lnSpc>
              <a:spcBef>
                <a:spcPts val="0"/>
              </a:spcBef>
              <a:spcAft>
                <a:spcPts val="500"/>
              </a:spcAft>
            </a:pPr>
            <a:r>
              <a:rPr sz="1500" b="0" i="0">
                <a:solidFill>
                  <a:srgbClr val="000000"/>
                </a:solidFill>
                <a:latin typeface="SimSun"/>
              </a:rPr>
              <a:t>加点词的“目前”能否去掉?为什么?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800" b="1" i="0">
                <a:solidFill>
                  <a:srgbClr val="FF0000"/>
                </a:solidFill>
                <a:latin typeface="SimSun"/>
              </a:rPr>
              <a:t>阅读答题技巧小纸条专题二--记叙文（1）</a:t>
            </a:r>
          </a:p>
          <a:p>
            <a:pPr algn="l">
              <a:lnSpc>
                <a:spcPct val="100000"/>
              </a:lnSpc>
              <a:spcBef>
                <a:spcPts val="0"/>
              </a:spcBef>
              <a:spcAft>
                <a:spcPts val="500"/>
              </a:spcAft>
            </a:pPr>
            <a:r>
              <a:rPr sz="1800" b="1" i="0">
                <a:solidFill>
                  <a:srgbClr val="C55E10"/>
                </a:solidFill>
                <a:latin typeface="SimSun"/>
              </a:rPr>
              <a:t>【1、标题的含义和作用】</a:t>
            </a:r>
          </a:p>
          <a:p>
            <a:pPr algn="l">
              <a:lnSpc>
                <a:spcPct val="100000"/>
              </a:lnSpc>
              <a:spcBef>
                <a:spcPts val="0"/>
              </a:spcBef>
              <a:spcAft>
                <a:spcPts val="500"/>
              </a:spcAft>
            </a:pPr>
            <a:r>
              <a:rPr sz="1500" b="0" i="0">
                <a:solidFill>
                  <a:srgbClr val="FF0000"/>
                </a:solidFill>
                <a:latin typeface="SimSun"/>
              </a:rPr>
              <a:t>一、含义：①表层含义：字面意思
②深层含义：表现了……主题（情感、品质）
二、答题模板：
（1）结构：贯穿全文的线索，设置悬念，吸引读者兴趣。
（2）内容+主旨：**（标题）表面是指……，深层蕴含着……情感/道理，奠定全文的感情基调。（3）手法：运用……的修辞手法（比喻、拟人、双关），新颖别致，激发读者的阅读兴趣，表现了……情感。
三、例题：
一条怕水的鱼李维嘉</a:t>
            </a:r>
          </a:p>
          <a:p>
            <a:pPr algn="l">
              <a:lnSpc>
                <a:spcPct val="100000"/>
              </a:lnSpc>
              <a:spcBef>
                <a:spcPts val="0"/>
              </a:spcBef>
              <a:spcAft>
                <a:spcPts val="500"/>
              </a:spcAft>
            </a:pPr>
            <a:r>
              <a:rPr sz="1500" b="0" i="0">
                <a:solidFill>
                  <a:srgbClr val="000000"/>
                </a:solidFill>
                <a:latin typeface="SimSun"/>
              </a:rPr>
              <a:t>①那时，我只有七八岁，学校新建了一个泳池，这让我和同学们兴奋不已。于是，我盼啊盼啊终于盼到了夏天。</a:t>
            </a:r>
          </a:p>
          <a:p>
            <a:pPr algn="l">
              <a:lnSpc>
                <a:spcPct val="100000"/>
              </a:lnSpc>
              <a:spcBef>
                <a:spcPts val="0"/>
              </a:spcBef>
              <a:spcAft>
                <a:spcPts val="500"/>
              </a:spcAft>
            </a:pPr>
            <a:r>
              <a:rPr sz="1500" b="0" i="0">
                <a:solidFill>
                  <a:srgbClr val="000000"/>
                </a:solidFill>
                <a:latin typeface="SimSun"/>
              </a:rPr>
              <a:t>②这天，体育课的内容就是游泳，同学们跃跃欲试。可是天公不作美，突然刮起了大风，我站在泳池边，看着被大风刮得动荡不安的池水，心里不安起来，</a:t>
            </a:r>
          </a:p>
          <a:p>
            <a:pPr algn="l">
              <a:lnSpc>
                <a:spcPct val="100000"/>
              </a:lnSpc>
              <a:spcBef>
                <a:spcPts val="0"/>
              </a:spcBef>
              <a:spcAft>
                <a:spcPts val="500"/>
              </a:spcAft>
            </a:pPr>
            <a:r>
              <a:rPr sz="1500" b="0" i="0">
                <a:solidFill>
                  <a:srgbClr val="000000"/>
                </a:solidFill>
                <a:latin typeface="SimSun"/>
              </a:rPr>
              <a:t>接着双腿开始发抖……这时，体育老师的哨声响起来了，他大声喊着：“下水！”接着，就听见稀稀拉拉几声“扑通”，有人下水了。我站着没动，偷偷看其他同学，他们大部分站在池边观望。看来，不止我一个人害怕。</a:t>
            </a:r>
          </a:p>
          <a:p>
            <a:pPr algn="l">
              <a:lnSpc>
                <a:spcPct val="100000"/>
              </a:lnSpc>
              <a:spcBef>
                <a:spcPts val="0"/>
              </a:spcBef>
              <a:spcAft>
                <a:spcPts val="500"/>
              </a:spcAft>
            </a:pPr>
            <a:r>
              <a:rPr sz="1500" b="0" i="0">
                <a:solidFill>
                  <a:srgbClr val="000000"/>
                </a:solidFill>
                <a:latin typeface="SimSun"/>
              </a:rPr>
              <a:t>③老师见大家不肯下水，开始一个个点名。渐渐地，岸上的同学越来越少，我心里的恐惧也越来越大：“万一我被淹死了怎么办?”</a:t>
            </a:r>
          </a:p>
          <a:p>
            <a:pPr algn="l">
              <a:lnSpc>
                <a:spcPct val="100000"/>
              </a:lnSpc>
              <a:spcBef>
                <a:spcPts val="0"/>
              </a:spcBef>
              <a:spcAft>
                <a:spcPts val="500"/>
              </a:spcAft>
            </a:pPr>
            <a:r>
              <a:rPr sz="1500" b="0" i="0">
                <a:solidFill>
                  <a:srgbClr val="000000"/>
                </a:solidFill>
                <a:latin typeface="SimSun"/>
              </a:rPr>
              <a:t>④“李维嘉，下水！”就在这时，老师喊出了我的名字。我猛地打了个激灵，向后退了好几步。“没关系，维嘉同学，水位很浅。”老师走到我身边温和地说。可是老师的心理辅导不但没起作用，反而使我内心的恐惧又增加了几分。我，我，肚子痛！”我开始临阵退缩。</a:t>
            </a:r>
          </a:p>
          <a:p>
            <a:pPr algn="l">
              <a:lnSpc>
                <a:spcPct val="100000"/>
              </a:lnSpc>
              <a:spcBef>
                <a:spcPts val="0"/>
              </a:spcBef>
              <a:spcAft>
                <a:spcPts val="500"/>
              </a:spcAft>
            </a:pPr>
            <a:r>
              <a:rPr sz="1500" b="0" i="0">
                <a:solidFill>
                  <a:srgbClr val="000000"/>
                </a:solidFill>
                <a:latin typeface="SimSun"/>
              </a:rPr>
              <a:t>⑤“胆子小还撒谎，可不是好同学！”老师一下就看穿了我的伎俩。“老师，我真的不敢……真的不敢游。”见撒谎没用，我便开始哀求。</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000000"/>
                </a:solidFill>
                <a:latin typeface="SimSun"/>
              </a:rPr>
              <a:t>⑥可老师一点情面都不讲，一把拉住我的手把我拖向池边。眼看着就要被拖下水，这时，我一把抓住了水梯：“老师，我不下水！我不下水……”但即使这样，老师依然没有放弃，他二话不说，用力掰开了我抓着水梯的手，一把抱起我，“扑通”一声把我扔进了泳池。接着，他也跳进了泳池。</a:t>
            </a:r>
          </a:p>
          <a:p>
            <a:pPr algn="l">
              <a:lnSpc>
                <a:spcPct val="100000"/>
              </a:lnSpc>
              <a:spcBef>
                <a:spcPts val="0"/>
              </a:spcBef>
              <a:spcAft>
                <a:spcPts val="500"/>
              </a:spcAft>
            </a:pPr>
            <a:r>
              <a:rPr sz="1500" b="0" i="0">
                <a:solidFill>
                  <a:srgbClr val="000000"/>
                </a:solidFill>
                <a:latin typeface="SimSun"/>
              </a:rPr>
              <a:t>⑦我开始挣扎：“完了，完了，我要死了……”但我突然发现，我的脚触到了池底，而池水在我的肩头浮动⋯⋯老师笑眯眯地望着我：“怎么样?没危险吧！”</a:t>
            </a:r>
          </a:p>
          <a:p>
            <a:pPr algn="l">
              <a:lnSpc>
                <a:spcPct val="100000"/>
              </a:lnSpc>
              <a:spcBef>
                <a:spcPts val="0"/>
              </a:spcBef>
              <a:spcAft>
                <a:spcPts val="500"/>
              </a:spcAft>
            </a:pPr>
            <a:r>
              <a:rPr sz="1500" b="0" i="0">
                <a:solidFill>
                  <a:srgbClr val="000000"/>
                </a:solidFill>
                <a:latin typeface="SimSun"/>
              </a:rPr>
              <a:t>我抹了一把脸上的水，看见同学们都乐呵呵地望着我，再看看刚刚被我死死拽着的梯子，想想刚才鬼哭狼嚎的样子，恨不得马上找个地缝钻进去。</a:t>
            </a:r>
          </a:p>
          <a:p>
            <a:pPr algn="l">
              <a:lnSpc>
                <a:spcPct val="100000"/>
              </a:lnSpc>
              <a:spcBef>
                <a:spcPts val="0"/>
              </a:spcBef>
              <a:spcAft>
                <a:spcPts val="500"/>
              </a:spcAft>
            </a:pPr>
            <a:r>
              <a:rPr sz="1500" b="0" i="0">
                <a:solidFill>
                  <a:srgbClr val="000000"/>
                </a:solidFill>
                <a:latin typeface="SimSun"/>
              </a:rPr>
              <a:t>⑧这就是我第一次下水游泳的经历，很“囧”。但是，这么“囧”的我现在却能在泳池中自由驰骋。每当朋友夸我游泳游得好时，我都会告诉他们：“曾经我是一条怕水的鱼……”之所以现在成了一条爱水的鱼，要感谢当初把我扔进泳池的那位老师，他让我知道了可怕的不是水，而是心中的“恐惧”。</a:t>
            </a:r>
          </a:p>
          <a:p>
            <a:pPr algn="l">
              <a:lnSpc>
                <a:spcPct val="100000"/>
              </a:lnSpc>
              <a:spcBef>
                <a:spcPts val="0"/>
              </a:spcBef>
              <a:spcAft>
                <a:spcPts val="500"/>
              </a:spcAft>
            </a:pPr>
            <a:r>
              <a:rPr sz="1500" b="0" i="0">
                <a:solidFill>
                  <a:srgbClr val="000000"/>
                </a:solidFill>
                <a:latin typeface="SimSun"/>
              </a:rPr>
              <a:t>本文以“一条怕水的鱼”为题，有何妙处？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000000"/>
                </a:solidFill>
                <a:latin typeface="SimSun"/>
              </a:rPr>
              <a:t>【巩固训练】</a:t>
            </a:r>
          </a:p>
          <a:p>
            <a:pPr algn="l">
              <a:lnSpc>
                <a:spcPct val="100000"/>
              </a:lnSpc>
              <a:spcBef>
                <a:spcPts val="0"/>
              </a:spcBef>
              <a:spcAft>
                <a:spcPts val="500"/>
              </a:spcAft>
            </a:pPr>
            <a:r>
              <a:rPr sz="1500" b="0" i="0">
                <a:solidFill>
                  <a:srgbClr val="000000"/>
                </a:solidFill>
                <a:latin typeface="SimSun"/>
              </a:rPr>
              <a:t>美丽的萝卜花丁立梅
①萝卜花是一个女人雕的，用料是萝卜，她把它雕成一朵朵月季花的模样。花盛开，很喜人。
②女人在小城的一条小巷子里摆地摊儿，卖小炒。一小罐煤气，一张简单的操作平台，木板做的，用来放锅碗盘碟，她的摊子就摆开了。她卖的小炒只三样：土豆丝炒牛肉，土豆丝炒鸡蛋，土豆丝炒猪肉。</a:t>
            </a:r>
          </a:p>
          <a:p>
            <a:pPr algn="l">
              <a:lnSpc>
                <a:spcPct val="100000"/>
              </a:lnSpc>
              <a:spcBef>
                <a:spcPts val="0"/>
              </a:spcBef>
              <a:spcAft>
                <a:spcPts val="500"/>
              </a:spcAft>
            </a:pPr>
            <a:r>
              <a:rPr sz="1500" b="0" i="0">
                <a:solidFill>
                  <a:srgbClr val="000000"/>
                </a:solidFill>
                <a:latin typeface="SimSun"/>
              </a:rPr>
              <a:t>③女人30 岁左右，瘦，皮肤白皙，长头发用发卡别在脑后。惹眼的是她的衣着，整天沾着油锅的，应该很油腻才是，却不。她的衣服极干净，外面罩着白围裙。衣领那儿，露出里面的一点红，是红毛衣，或红围巾。她过一会儿，就换一下围裙，换一下袖套，以保持整体衣着的干净。很让人惊奇且喜欢的是，她每卖一份小炒，就在装给你的方便盒里放上一朵雕刻的萝卜花。这样装在盒子里的，才好看。她说。</a:t>
            </a:r>
          </a:p>
          <a:p>
            <a:pPr algn="l">
              <a:lnSpc>
                <a:spcPct val="100000"/>
              </a:lnSpc>
              <a:spcBef>
                <a:spcPts val="0"/>
              </a:spcBef>
              <a:spcAft>
                <a:spcPts val="500"/>
              </a:spcAft>
            </a:pPr>
            <a:r>
              <a:rPr sz="1500" b="0" i="0">
                <a:solidFill>
                  <a:srgbClr val="000000"/>
                </a:solidFill>
                <a:latin typeface="SimSun"/>
              </a:rPr>
              <a:t>④不知是因为女人的干净，还是她的萝卜花，一到吃饭时间，女人的摊子前，总围满人。五块钱一份的小炒，大家都很耐心地等待着。女人不停地翻铲，装在方便盒里，而后放上一朵萝卜花。整个过程，充满美感。于是，一朵一朵素雅的萝卜花，就开到了人的饭桌上。</a:t>
            </a:r>
          </a:p>
          <a:p>
            <a:pPr algn="l">
              <a:lnSpc>
                <a:spcPct val="100000"/>
              </a:lnSpc>
              <a:spcBef>
                <a:spcPts val="0"/>
              </a:spcBef>
              <a:spcAft>
                <a:spcPts val="500"/>
              </a:spcAft>
            </a:pPr>
            <a:r>
              <a:rPr sz="1500" b="0" i="0">
                <a:solidFill>
                  <a:srgbClr val="000000"/>
                </a:solidFill>
                <a:latin typeface="SimSun"/>
              </a:rPr>
              <a:t>⑤我也去买女人的小炒。去的次数多了，渐渐知道她的故事。
⑥女人原先有个很殷实的家。男人是搞建筑的，很有些钱。但不幸的是，在一次建筑中，男人从尚未完工的高楼上摔下来，被送进医院，医院当场就下了病危通知书。女人几乎倾尽所有，抢救男人，才捡回半条命——男人瘫痪了。</a:t>
            </a:r>
          </a:p>
          <a:p>
            <a:pPr algn="l">
              <a:lnSpc>
                <a:spcPct val="100000"/>
              </a:lnSpc>
              <a:spcBef>
                <a:spcPts val="0"/>
              </a:spcBef>
              <a:spcAft>
                <a:spcPts val="500"/>
              </a:spcAft>
            </a:pPr>
            <a:r>
              <a:rPr sz="1500" b="0" i="0">
                <a:solidFill>
                  <a:srgbClr val="000000"/>
                </a:solidFill>
                <a:latin typeface="SimSun"/>
              </a:rPr>
              <a:t>⑦生活的优裕不再。年幼的孩子，瘫痪的男人，女人得一肩扛一个。她考虑了许久，决心摆摊儿卖小炒。有人劝她，街上那么多家饭店，你卖小炒能卖得出去吗?女人想，也是。总得弄点和别人不一样的东西吧?于是她想到了雕刻萝卜花。当她静静地坐在桌旁雕花时，她突然被自己手上的美镇住了，一根再普通不过的胡萝卜，在眨眼之间，竟能开出一小朵一小朵的花来。女人的心，一下子充满期望和向往。</a:t>
            </a:r>
          </a:p>
          <a:p>
            <a:pPr algn="l">
              <a:lnSpc>
                <a:spcPct val="100000"/>
              </a:lnSpc>
              <a:spcBef>
                <a:spcPts val="0"/>
              </a:spcBef>
              <a:spcAft>
                <a:spcPts val="500"/>
              </a:spcAft>
            </a:pPr>
            <a:r>
              <a:rPr sz="1500" b="0" i="0">
                <a:solidFill>
                  <a:srgbClr val="000000"/>
                </a:solidFill>
                <a:latin typeface="SimSun"/>
              </a:rPr>
              <a:t>⑧就这样，女人的小炒摊子，摆开了，并且很快成为小城的一道风景。下班了赶不上做菜的人，都会相互招呼一声，去买一份萝卜花吧，就都晃到女人的摊儿前来了。</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800" b="0" i="0">
                <a:solidFill>
                  <a:srgbClr val="000000"/>
                </a:solidFill>
                <a:latin typeface="SimSun"/>
              </a:rPr>
              <a:t>⑨一次，我开玩笑地问女人，攒了多少钱了?女人笑而不答。一小朵一小朵的萝卜花，很认真地开在她的手边。
⑩不多久，女人竟出人意料地盘下了一家酒店，用她积攒的钱。她负责配菜，她把瘫痪的男人，接到店里管账。女人依然衣着干净，在所有的菜肴里，依然喜欢放上一朵她雕刻的萝卜花。菜不但是吃的，也是用来看的呢。她说，眼睛亮着。一旁的男人，气色也好，没有颓废的样子。</a:t>
            </a:r>
          </a:p>
          <a:p>
            <a:pPr algn="l">
              <a:lnSpc>
                <a:spcPct val="100000"/>
              </a:lnSpc>
              <a:spcBef>
                <a:spcPts val="0"/>
              </a:spcBef>
              <a:spcAft>
                <a:spcPts val="500"/>
              </a:spcAft>
            </a:pPr>
            <a:r>
              <a:rPr sz="1800" b="0" i="0">
                <a:solidFill>
                  <a:srgbClr val="000000"/>
                </a:solidFill>
                <a:latin typeface="MS-PGothic"/>
              </a:rPr>
              <a:t>⑪女人的酒店，慢慢地出了名。提起萝卜花，大家都知道。
⑫生活，也许避免不了苦难，却从不会拒绝一朵萝卜花的盛开。</a:t>
            </a:r>
          </a:p>
          <a:p>
            <a:pPr algn="l">
              <a:lnSpc>
                <a:spcPct val="100000"/>
              </a:lnSpc>
              <a:spcBef>
                <a:spcPts val="0"/>
              </a:spcBef>
              <a:spcAft>
                <a:spcPts val="500"/>
              </a:spcAft>
            </a:pPr>
            <a:r>
              <a:rPr sz="1800" b="0" i="0">
                <a:solidFill>
                  <a:srgbClr val="000000"/>
                </a:solidFill>
                <a:latin typeface="SimSun"/>
              </a:rPr>
              <a:t>作者以“美丽的萝卜花”为题有何用意?</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800" b="1" i="0">
                <a:solidFill>
                  <a:srgbClr val="FF0000"/>
                </a:solidFill>
                <a:latin typeface="SimSun"/>
              </a:rPr>
              <a:t>阅读答题技巧小纸条专题二--记叙文（2）</a:t>
            </a:r>
          </a:p>
          <a:p>
            <a:pPr algn="l">
              <a:lnSpc>
                <a:spcPct val="100000"/>
              </a:lnSpc>
              <a:spcBef>
                <a:spcPts val="0"/>
              </a:spcBef>
              <a:spcAft>
                <a:spcPts val="500"/>
              </a:spcAft>
            </a:pPr>
            <a:r>
              <a:rPr sz="1800" b="1" i="0">
                <a:solidFill>
                  <a:srgbClr val="C55E10"/>
                </a:solidFill>
                <a:latin typeface="SimSun"/>
              </a:rPr>
              <a:t>【2、文本概括题】
一、答题模板：（1）人物＋事情（谁+在什么情况下+做了什么）</a:t>
            </a:r>
          </a:p>
          <a:p>
            <a:pPr algn="l">
              <a:lnSpc>
                <a:spcPct val="100000"/>
              </a:lnSpc>
              <a:spcBef>
                <a:spcPts val="0"/>
              </a:spcBef>
              <a:spcAft>
                <a:spcPts val="500"/>
              </a:spcAft>
            </a:pPr>
            <a:r>
              <a:rPr sz="1500" b="0" i="0">
                <a:solidFill>
                  <a:srgbClr val="000000"/>
                </a:solidFill>
                <a:latin typeface="SimSun"/>
              </a:rPr>
              <a:t>（2）其他要素如：时间（季节、年代）、地点、环境如果有特定意义，也应概括在内。回答清楚（什么时间、什么地点）什么人做什么事。</a:t>
            </a:r>
          </a:p>
          <a:p>
            <a:pPr algn="l">
              <a:lnSpc>
                <a:spcPct val="100000"/>
              </a:lnSpc>
              <a:spcBef>
                <a:spcPts val="0"/>
              </a:spcBef>
              <a:spcAft>
                <a:spcPts val="500"/>
              </a:spcAft>
            </a:pPr>
            <a:r>
              <a:rPr sz="1500" b="0" i="0">
                <a:solidFill>
                  <a:srgbClr val="000000"/>
                </a:solidFill>
                <a:latin typeface="SimSun"/>
              </a:rPr>
              <a:t>（3）答案要简洁完整，小标题注意字数一致。
二、例题：
没鞋的孩子拼命跳范方启
①那是个以手工为主的年代，穿在脚上的鞋，多半是母亲缝制。我的一个同学，因为他的娘死得早，他差不多是光着脚上学，纵然穿上鞋，那肯定是数九寒冬，脚实在是扛不过去了。他的一双脚，通常是通红的，并且皲裂，露出鲜红的肉。为了抵御寒冷，他所能有的办法就是不停地跳动着，以此增加身体和脚的热量。</a:t>
            </a:r>
          </a:p>
          <a:p>
            <a:pPr algn="l">
              <a:lnSpc>
                <a:spcPct val="100000"/>
              </a:lnSpc>
              <a:spcBef>
                <a:spcPts val="0"/>
              </a:spcBef>
              <a:spcAft>
                <a:spcPts val="500"/>
              </a:spcAft>
            </a:pPr>
            <a:r>
              <a:rPr sz="1500" b="0" i="0">
                <a:solidFill>
                  <a:srgbClr val="000000"/>
                </a:solidFill>
                <a:latin typeface="SimSun"/>
              </a:rPr>
              <a:t>②我们不是没有同情心，看着一双脚在寒风中备受煎熬，自然心中不好受，我们便凑点钱，买上一双布鞋和袜子送给他，他千恩万谢地收下了。再次见面，我们看到的仍然是一双赤脚，便不解地问他为什么不穿。</a:t>
            </a:r>
          </a:p>
          <a:p>
            <a:pPr algn="l">
              <a:lnSpc>
                <a:spcPct val="100000"/>
              </a:lnSpc>
              <a:spcBef>
                <a:spcPts val="0"/>
              </a:spcBef>
              <a:spcAft>
                <a:spcPts val="500"/>
              </a:spcAft>
            </a:pPr>
            <a:r>
              <a:rPr sz="1500" b="0" i="0">
                <a:solidFill>
                  <a:srgbClr val="000000"/>
                </a:solidFill>
                <a:latin typeface="SimSun"/>
              </a:rPr>
              <a:t>③他说，袜子给了比他更小的弟弟，鞋得留着，到过年时穿。为什么一定非得到过年穿不可?过年了，还光着一双脚，这不吉利，穿上鞋，第二年没准会暖和起来的。把好愿留给新年，这旧的一年剩下的日子，他得继续跳着。长期地跳着，他的这双脚一不小心就跳出了几项冠军来：长跑区里第一，跳高、跳远学校第一。这应该是命运给逼出的几个第一，几乎没人羡慕。我们认为他会在这样的几个优势项目中继续努力，争取更多的冠军。出乎我们意料的是，下届的运动会，他一项比赛也没有参加。这让我们的确有些惋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000000"/>
                </a:solidFill>
                <a:latin typeface="SimSun"/>
              </a:rPr>
              <a:t>④令我们始料不及的是，另外的几项冠军却悄无声息地在他的身上脱颖而出。语文年级第一，数学全区第一，外语满分，又一个第一。那年他初三，脚上虽然有一双鞋，有一半的指头不安分地探出脑袋来。颁奖大会上，他依然保持着惯有的姿态，蹦蹦跳跳地上了领奖台，向老师和同学深深鞠躬。那天还是很冷，教他的语文老师百感交集，当即来了一番动情的演说。那语文老师说，几十年的教学生涯中，他眼见了不少没鞋穿的孩子，这些孩子都有一个共同点，不断地跳着，有的越跳越高，跳出了人生的另一种境界，也有的开始在跳，后来不跳了，可能是脚脖子给跳扭了，结果还是在原地不动。话尽管有些深奥，因为有一个活生生的例子，也便不难懂。我们深为感动。那老师躬身问他，是怎样将自己跳出了另外的一个高度的?他说，如果再不跳，只怕要打一辈子的赤脚。</a:t>
            </a:r>
          </a:p>
          <a:p>
            <a:pPr algn="l">
              <a:lnSpc>
                <a:spcPct val="100000"/>
              </a:lnSpc>
              <a:spcBef>
                <a:spcPts val="0"/>
              </a:spcBef>
              <a:spcAft>
                <a:spcPts val="500"/>
              </a:spcAft>
            </a:pPr>
            <a:r>
              <a:rPr sz="1500" b="0" i="0">
                <a:solidFill>
                  <a:srgbClr val="000000"/>
                </a:solidFill>
                <a:latin typeface="SimSun"/>
              </a:rPr>
              <a:t>⑤脚一直不冷的我，没有想过去跳，结果在人生的道路上，总是跟在别人的后面，一头淹没在人海中。1.请用自己的话概述文章内容。</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000000"/>
                </a:solidFill>
                <a:latin typeface="SimSun"/>
              </a:rPr>
              <a:t>【巩固训练】</a:t>
            </a:r>
          </a:p>
          <a:p>
            <a:pPr algn="l">
              <a:lnSpc>
                <a:spcPct val="100000"/>
              </a:lnSpc>
              <a:spcBef>
                <a:spcPts val="0"/>
              </a:spcBef>
              <a:spcAft>
                <a:spcPts val="500"/>
              </a:spcAft>
            </a:pPr>
            <a:r>
              <a:rPr sz="1500" b="0" i="0">
                <a:solidFill>
                  <a:srgbClr val="000000"/>
                </a:solidFill>
                <a:latin typeface="SimSun"/>
              </a:rPr>
              <a:t>大雪封不住希望的心包利民
①那年冬天，我和表弟徒步走了几十里路，到荒野里去抓野兔子。早上出发的时候，天气还挺晴朗，没想到刚过晌午，天一下子就阴下来了。大片大片的雪，从阴霾的天空打着旋儿砸落下来，覆盖了整个大地。这是一场暴风雪，无边的大雪。荒野上的积雪被风吹得像波涛一样滚动。我和表弟赶紧躲在一棵大树的下面，等待雪停。</a:t>
            </a:r>
          </a:p>
          <a:p>
            <a:pPr algn="l">
              <a:lnSpc>
                <a:spcPct val="100000"/>
              </a:lnSpc>
              <a:spcBef>
                <a:spcPts val="0"/>
              </a:spcBef>
              <a:spcAft>
                <a:spcPts val="500"/>
              </a:spcAft>
            </a:pPr>
            <a:r>
              <a:rPr sz="1500" b="0" i="0">
                <a:solidFill>
                  <a:srgbClr val="000000"/>
                </a:solidFill>
                <a:latin typeface="SimSun"/>
              </a:rPr>
              <a:t>②过了好大一会儿，风小多了，雪还下着。我和表弟从树下走出来，忙着往回赶。可走了好一会儿，发现周围仍是无边的雪原，雪虽然没有刚才下得大，可到处是一片白茫茫的世界，分不清东西南北了。来时走过的那条小路已经被盖在雪下面了，找不到了。周围除了雪还是雪，只看见那些荒原上稀稀疏疏的树。我不安地叫起来，怎么办?怎么办?几十里的路呀，啥时候才能走到家，更何况我们迷路了呀！</a:t>
            </a:r>
          </a:p>
          <a:p>
            <a:pPr algn="l">
              <a:lnSpc>
                <a:spcPct val="100000"/>
              </a:lnSpc>
              <a:spcBef>
                <a:spcPts val="0"/>
              </a:spcBef>
              <a:spcAft>
                <a:spcPts val="500"/>
              </a:spcAft>
            </a:pPr>
            <a:r>
              <a:rPr sz="1500" b="0" i="0">
                <a:solidFill>
                  <a:srgbClr val="000000"/>
                </a:solidFill>
                <a:latin typeface="SimSun"/>
              </a:rPr>
              <a:t>③表弟好像并不着急，他每走到一棵树下，便爬上树去向远处张望。可是，这么大的暴风雪过后，很难见到村庄的影子，仿佛大地上的印迹都被大雪所埋没了。</a:t>
            </a:r>
          </a:p>
          <a:p>
            <a:pPr algn="l">
              <a:lnSpc>
                <a:spcPct val="100000"/>
              </a:lnSpc>
              <a:spcBef>
                <a:spcPts val="0"/>
              </a:spcBef>
              <a:spcAft>
                <a:spcPts val="500"/>
              </a:spcAft>
            </a:pPr>
            <a:r>
              <a:rPr sz="1500" b="0" i="0">
                <a:solidFill>
                  <a:srgbClr val="000000"/>
                </a:solidFill>
                <a:latin typeface="SimSun"/>
              </a:rPr>
              <a:t>④我们继续往前走。又有一棵树，表弟又走到树下，爬了上去向远处张望。可是，一眼望不到边的白色世界，怎么会告诉你回家的路在哪里呢?</a:t>
            </a:r>
          </a:p>
          <a:p>
            <a:pPr algn="l">
              <a:lnSpc>
                <a:spcPct val="100000"/>
              </a:lnSpc>
              <a:spcBef>
                <a:spcPts val="0"/>
              </a:spcBef>
              <a:spcAft>
                <a:spcPts val="500"/>
              </a:spcAft>
            </a:pPr>
            <a:r>
              <a:rPr sz="1500" b="0" i="0">
                <a:solidFill>
                  <a:srgbClr val="000000"/>
                </a:solidFill>
                <a:latin typeface="SimSun"/>
              </a:rPr>
              <a:t>⑤就这样一路走着，弟弟爬上树张望，又爬下来，不厌其烦。可是我心里却焦急万分，如果不能找到村庄，天黑下来，等着我们的就是黑暗与寒冷，那无疑是死路一条。雪还在下着，雪片在空中凌乱地飞舞，大片大片地四处乱撞。我们一边走一边纳闷，来的时候没觉得路这么远，怎么周围的村庄一个也看不见了呢?我们本想朝着一个方向走，可是满天风雪，根本无从辨别方向，只好凭着感觉朝某个方向不停地走。</a:t>
            </a:r>
          </a:p>
          <a:p>
            <a:pPr algn="l">
              <a:lnSpc>
                <a:spcPct val="100000"/>
              </a:lnSpc>
              <a:spcBef>
                <a:spcPts val="0"/>
              </a:spcBef>
              <a:spcAft>
                <a:spcPts val="500"/>
              </a:spcAft>
            </a:pPr>
            <a:r>
              <a:rPr sz="1500" b="0" i="0">
                <a:solidFill>
                  <a:srgbClr val="000000"/>
                </a:solidFill>
                <a:latin typeface="SimSun"/>
              </a:rPr>
              <a:t>⑥表弟再一次爬上一棵树，这回他大声喊道：“哥，前边的雪地上有个黑点！”我精神一振，弟弟从树上滚下来，我们一起奋力迈着疲惫的双腿向前方走去。</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000000"/>
                </a:solidFill>
                <a:latin typeface="SimSun"/>
              </a:rPr>
              <a:t>⑦表弟一次次地爬上树，看清楚那个黑点的方向，我们离着那个黑点也越来越近，这是我们唯一的希望了。
⑧终于走到了那个黑点所在的位置，原来是一口极深的水井。我摇着弟弟的肩膀兴奋地说：“既然这里有井，附近一定有村子，我们有救了！”我们都精神了。表弟又飞快地爬上一棵最高的树，向远处观望。他忽然大喊：“哥，我看见那边有一缕缕的烟，肯定是个村子！”我们立刻向那边出发。当时已是傍晚，表弟看到的烟肯定是村庄的炊烟。果然，走了不多一会儿，一个村子真的出现在视野里。我们高兴至极，真是重见天日了。天已擦黑，那一刻，我们都躺倒在雪地上，大口地喘着气。任凭大片大片的雪花落在我们的脸上、身上。好大的雪呀，它似乎在舞蹈，伴着一曲最欢乐的歌，翩翩起舞。</a:t>
            </a:r>
          </a:p>
          <a:p>
            <a:pPr algn="l">
              <a:lnSpc>
                <a:spcPct val="100000"/>
              </a:lnSpc>
              <a:spcBef>
                <a:spcPts val="0"/>
              </a:spcBef>
              <a:spcAft>
                <a:spcPts val="500"/>
              </a:spcAft>
            </a:pPr>
            <a:r>
              <a:rPr sz="1500" b="0" i="0">
                <a:solidFill>
                  <a:srgbClr val="000000"/>
                </a:solidFill>
                <a:latin typeface="SimSun"/>
              </a:rPr>
              <a:t>2.用简洁的语言概括这篇短文的主要内容。</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100" b="1" i="0">
                <a:solidFill>
                  <a:srgbClr val="FF0000"/>
                </a:solidFill>
                <a:latin typeface="SimSun"/>
              </a:rPr>
              <a:t>阅读答题技巧小纸条专题二--记叙文（3）</a:t>
            </a:r>
          </a:p>
          <a:p>
            <a:pPr algn="l">
              <a:lnSpc>
                <a:spcPct val="100000"/>
              </a:lnSpc>
              <a:spcBef>
                <a:spcPts val="0"/>
              </a:spcBef>
              <a:spcAft>
                <a:spcPts val="500"/>
              </a:spcAft>
            </a:pPr>
            <a:r>
              <a:rPr sz="2100" b="1" i="0">
                <a:solidFill>
                  <a:srgbClr val="C55E10"/>
                </a:solidFill>
                <a:latin typeface="SimSun"/>
              </a:rPr>
              <a:t>【赏析句子题--修辞手法：比喻、拟人、夸张、对比、反复、排比、反问等】</a:t>
            </a:r>
          </a:p>
          <a:p>
            <a:pPr algn="l">
              <a:lnSpc>
                <a:spcPct val="100000"/>
              </a:lnSpc>
              <a:spcBef>
                <a:spcPts val="0"/>
              </a:spcBef>
              <a:spcAft>
                <a:spcPts val="500"/>
              </a:spcAft>
            </a:pPr>
            <a:r>
              <a:rPr sz="2100" b="1" i="0">
                <a:solidFill>
                  <a:srgbClr val="2D54A0"/>
                </a:solidFill>
                <a:latin typeface="SimSun"/>
              </a:rPr>
              <a:t>【比喻】</a:t>
            </a:r>
          </a:p>
          <a:p>
            <a:pPr algn="l">
              <a:lnSpc>
                <a:spcPct val="100000"/>
              </a:lnSpc>
              <a:spcBef>
                <a:spcPts val="0"/>
              </a:spcBef>
              <a:spcAft>
                <a:spcPts val="500"/>
              </a:spcAft>
            </a:pPr>
            <a:r>
              <a:rPr sz="1800" b="0" i="0">
                <a:solidFill>
                  <a:srgbClr val="FF0000"/>
                </a:solidFill>
                <a:latin typeface="SimSun"/>
              </a:rPr>
              <a:t>一、含义：比喻，就是利用不同事物之间的某些相似的地方，借一事物来说明另一事物的方法。比喻可以分为：明喻、暗喻、借喻。
二、例题：叶子出水很高，像亭亭的舞女的裙。——朱自清《荷塘月色》
三、答题模板：这句话运用了比喻的修辞手法，把xx 比作xx，生动形象写出了xx 物的xx 特点（或描写出了……的情景/画面)，抒发了对xx 喜爱赞美之情(表现了xxr 人……性格/品质。)</a:t>
            </a:r>
          </a:p>
          <a:p>
            <a:pPr algn="l">
              <a:lnSpc>
                <a:spcPct val="100000"/>
              </a:lnSpc>
              <a:spcBef>
                <a:spcPts val="0"/>
              </a:spcBef>
              <a:spcAft>
                <a:spcPts val="500"/>
              </a:spcAft>
            </a:pPr>
            <a:r>
              <a:rPr sz="1800" b="0" i="0">
                <a:solidFill>
                  <a:srgbClr val="FF0000"/>
                </a:solidFill>
                <a:latin typeface="SimSun"/>
              </a:rPr>
              <a:t>例题作答：</a:t>
            </a:r>
          </a:p>
          <a:p>
            <a:pPr algn="l">
              <a:lnSpc>
                <a:spcPct val="100000"/>
              </a:lnSpc>
              <a:spcBef>
                <a:spcPts val="0"/>
              </a:spcBef>
              <a:spcAft>
                <a:spcPts val="500"/>
              </a:spcAft>
            </a:pPr>
            <a:r>
              <a:rPr sz="1800" b="0" i="0">
                <a:solidFill>
                  <a:srgbClr val="000000"/>
                </a:solidFill>
                <a:latin typeface="SimSun"/>
              </a:rPr>
              <a:t>【巩固训练】</a:t>
            </a:r>
          </a:p>
          <a:p>
            <a:pPr algn="l">
              <a:lnSpc>
                <a:spcPct val="100000"/>
              </a:lnSpc>
              <a:spcBef>
                <a:spcPts val="0"/>
              </a:spcBef>
              <a:spcAft>
                <a:spcPts val="500"/>
              </a:spcAft>
            </a:pPr>
            <a:r>
              <a:rPr sz="1800" b="0" i="0">
                <a:solidFill>
                  <a:srgbClr val="000000"/>
                </a:solidFill>
                <a:latin typeface="SimSun"/>
              </a:rPr>
              <a:t>教师的周围飘着粉笔屑，不，那不是粉笔屑，它是孕育智慧的花朵。</a:t>
            </a:r>
          </a:p>
          <a:p>
            <a:pPr algn="l">
              <a:lnSpc>
                <a:spcPct val="100000"/>
              </a:lnSpc>
              <a:spcBef>
                <a:spcPts val="0"/>
              </a:spcBef>
              <a:spcAft>
                <a:spcPts val="500"/>
              </a:spcAft>
            </a:pPr>
            <a:r>
              <a:rPr sz="1800" b="0" i="0">
                <a:solidFill>
                  <a:srgbClr val="000000"/>
                </a:solidFill>
                <a:latin typeface="SimSun"/>
              </a:rPr>
              <a:t>该句运用了什么修辞手法？有何作用？</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100" b="1" i="0">
                <a:solidFill>
                  <a:srgbClr val="FF0000"/>
                </a:solidFill>
                <a:latin typeface="SimSun"/>
              </a:rPr>
              <a:t>阅读答题技巧小纸条专题二--记叙文（4）</a:t>
            </a:r>
          </a:p>
          <a:p>
            <a:pPr algn="l">
              <a:lnSpc>
                <a:spcPct val="100000"/>
              </a:lnSpc>
              <a:spcBef>
                <a:spcPts val="0"/>
              </a:spcBef>
              <a:spcAft>
                <a:spcPts val="500"/>
              </a:spcAft>
            </a:pPr>
            <a:r>
              <a:rPr sz="2100" b="1" i="0">
                <a:solidFill>
                  <a:srgbClr val="C55E10"/>
                </a:solidFill>
                <a:latin typeface="SimSun"/>
              </a:rPr>
              <a:t>【3、赏析句子题--修辞手法：比喻、拟人、夸张、对比、反复、排比、反问等】</a:t>
            </a:r>
          </a:p>
          <a:p>
            <a:pPr algn="l">
              <a:lnSpc>
                <a:spcPct val="100000"/>
              </a:lnSpc>
              <a:spcBef>
                <a:spcPts val="0"/>
              </a:spcBef>
              <a:spcAft>
                <a:spcPts val="500"/>
              </a:spcAft>
            </a:pPr>
            <a:r>
              <a:rPr sz="2100" b="1" i="0">
                <a:solidFill>
                  <a:srgbClr val="2D54A0"/>
                </a:solidFill>
                <a:latin typeface="SimSun"/>
              </a:rPr>
              <a:t>【拟人】</a:t>
            </a:r>
          </a:p>
          <a:p>
            <a:pPr algn="l">
              <a:lnSpc>
                <a:spcPct val="100000"/>
              </a:lnSpc>
              <a:spcBef>
                <a:spcPts val="0"/>
              </a:spcBef>
              <a:spcAft>
                <a:spcPts val="500"/>
              </a:spcAft>
            </a:pPr>
            <a:r>
              <a:rPr sz="1800" b="0" i="0">
                <a:solidFill>
                  <a:srgbClr val="FF0000"/>
                </a:solidFill>
                <a:latin typeface="SimSun"/>
              </a:rPr>
              <a:t>一、含义：拟人就是把物当做人来写，赋予人的思想感情，和人一样会说话、有感情。
二、例题：一切都像刚睡醒的样子，欣欣然张开了眼。
——朱自清《春》
三、答题模板：这句话运用拟人的修辞手法，把xx 事物拟人化，赋予人才会有的“xx”（动作、语言等），生动形象地写出了xx 物的xx 特点，表达了作者的xx 感情。</a:t>
            </a:r>
          </a:p>
          <a:p>
            <a:pPr algn="l">
              <a:lnSpc>
                <a:spcPct val="100000"/>
              </a:lnSpc>
              <a:spcBef>
                <a:spcPts val="0"/>
              </a:spcBef>
              <a:spcAft>
                <a:spcPts val="500"/>
              </a:spcAft>
            </a:pPr>
            <a:r>
              <a:rPr sz="1800" b="0" i="0">
                <a:solidFill>
                  <a:srgbClr val="FF0000"/>
                </a:solidFill>
                <a:latin typeface="SimSun"/>
              </a:rPr>
              <a:t>例题作答：</a:t>
            </a:r>
          </a:p>
          <a:p>
            <a:pPr algn="l">
              <a:lnSpc>
                <a:spcPct val="100000"/>
              </a:lnSpc>
              <a:spcBef>
                <a:spcPts val="0"/>
              </a:spcBef>
              <a:spcAft>
                <a:spcPts val="500"/>
              </a:spcAft>
            </a:pPr>
            <a:r>
              <a:rPr sz="1800" b="0" i="0">
                <a:solidFill>
                  <a:srgbClr val="000000"/>
                </a:solidFill>
                <a:latin typeface="SimSun"/>
              </a:rPr>
              <a:t>【巩固训练】</a:t>
            </a:r>
          </a:p>
          <a:p>
            <a:pPr algn="l">
              <a:lnSpc>
                <a:spcPct val="100000"/>
              </a:lnSpc>
              <a:spcBef>
                <a:spcPts val="0"/>
              </a:spcBef>
              <a:spcAft>
                <a:spcPts val="500"/>
              </a:spcAft>
            </a:pPr>
            <a:r>
              <a:rPr sz="1800" b="0" i="0">
                <a:solidFill>
                  <a:srgbClr val="000000"/>
                </a:solidFill>
                <a:latin typeface="SimSun"/>
              </a:rPr>
              <a:t>早上我起来的时候，小屋里射进两三方斜斜的太阳。太阳他有脚啊，轻轻悄悄地挪移了，我也茫茫然跟着旋转。
--朱自清《匆匆》</a:t>
            </a:r>
          </a:p>
          <a:p>
            <a:pPr algn="l">
              <a:lnSpc>
                <a:spcPct val="100000"/>
              </a:lnSpc>
              <a:spcBef>
                <a:spcPts val="0"/>
              </a:spcBef>
              <a:spcAft>
                <a:spcPts val="500"/>
              </a:spcAft>
            </a:pPr>
            <a:r>
              <a:rPr sz="1800" b="0" i="0">
                <a:solidFill>
                  <a:srgbClr val="000000"/>
                </a:solidFill>
                <a:latin typeface="SimSun"/>
              </a:rPr>
              <a:t>该句运用了什么修辞手法？有何作用？</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100" b="1" i="0">
                <a:solidFill>
                  <a:srgbClr val="FF0000"/>
                </a:solidFill>
                <a:latin typeface="SimSun"/>
              </a:rPr>
              <a:t>阅读答题技巧小纸条专题二--记叙文（5）</a:t>
            </a:r>
          </a:p>
          <a:p>
            <a:pPr algn="l">
              <a:lnSpc>
                <a:spcPct val="100000"/>
              </a:lnSpc>
              <a:spcBef>
                <a:spcPts val="0"/>
              </a:spcBef>
              <a:spcAft>
                <a:spcPts val="500"/>
              </a:spcAft>
            </a:pPr>
            <a:r>
              <a:rPr sz="2100" b="1" i="0">
                <a:solidFill>
                  <a:srgbClr val="C55E10"/>
                </a:solidFill>
                <a:latin typeface="SimSun"/>
              </a:rPr>
              <a:t>【3、赏析句子题--修辞手法：比喻、拟人、夸张、对比、反复、排比、反问等】</a:t>
            </a:r>
          </a:p>
          <a:p>
            <a:pPr algn="l">
              <a:lnSpc>
                <a:spcPct val="100000"/>
              </a:lnSpc>
              <a:spcBef>
                <a:spcPts val="0"/>
              </a:spcBef>
              <a:spcAft>
                <a:spcPts val="500"/>
              </a:spcAft>
            </a:pPr>
            <a:r>
              <a:rPr sz="2100" b="1" i="0">
                <a:solidFill>
                  <a:srgbClr val="2D54A0"/>
                </a:solidFill>
                <a:latin typeface="SimSun"/>
              </a:rPr>
              <a:t>【夸张】</a:t>
            </a:r>
          </a:p>
          <a:p>
            <a:pPr algn="l">
              <a:lnSpc>
                <a:spcPct val="100000"/>
              </a:lnSpc>
              <a:spcBef>
                <a:spcPts val="0"/>
              </a:spcBef>
              <a:spcAft>
                <a:spcPts val="500"/>
              </a:spcAft>
            </a:pPr>
            <a:r>
              <a:rPr sz="1800" b="0" i="0">
                <a:solidFill>
                  <a:srgbClr val="FF0000"/>
                </a:solidFill>
                <a:latin typeface="SimSun"/>
              </a:rPr>
              <a:t>一、含义：夸张是把要描写的事物有意地夸大或缩小，夸张可分为：扩大夸张、缩小夸张。
二、例题：桂子花开，十里飘香。
三、答题模板：这句话运用夸张的修辞手法，将xx 与xx 进行对比，突出了的xx 特点，表达了作者的xx 之情（强调xx 的道理）。</a:t>
            </a:r>
          </a:p>
          <a:p>
            <a:pPr algn="l">
              <a:lnSpc>
                <a:spcPct val="100000"/>
              </a:lnSpc>
              <a:spcBef>
                <a:spcPts val="0"/>
              </a:spcBef>
              <a:spcAft>
                <a:spcPts val="500"/>
              </a:spcAft>
            </a:pPr>
            <a:r>
              <a:rPr sz="1800" b="0" i="0">
                <a:solidFill>
                  <a:srgbClr val="FF0000"/>
                </a:solidFill>
                <a:latin typeface="SimSun"/>
              </a:rPr>
              <a:t>例题作答：</a:t>
            </a:r>
          </a:p>
          <a:p>
            <a:pPr algn="l">
              <a:lnSpc>
                <a:spcPct val="100000"/>
              </a:lnSpc>
              <a:spcBef>
                <a:spcPts val="0"/>
              </a:spcBef>
              <a:spcAft>
                <a:spcPts val="500"/>
              </a:spcAft>
            </a:pPr>
            <a:r>
              <a:rPr sz="1800" b="0" i="0">
                <a:solidFill>
                  <a:srgbClr val="000000"/>
                </a:solidFill>
                <a:latin typeface="SimSun"/>
              </a:rPr>
              <a:t>【巩固训练】</a:t>
            </a:r>
          </a:p>
          <a:p>
            <a:pPr algn="l">
              <a:lnSpc>
                <a:spcPct val="100000"/>
              </a:lnSpc>
              <a:spcBef>
                <a:spcPts val="0"/>
              </a:spcBef>
              <a:spcAft>
                <a:spcPts val="500"/>
              </a:spcAft>
            </a:pPr>
            <a:r>
              <a:rPr sz="1800" b="0" i="0">
                <a:solidFill>
                  <a:srgbClr val="000000"/>
                </a:solidFill>
                <a:latin typeface="SimSun"/>
              </a:rPr>
              <a:t>过了二十三，大家就更忙了，春节眨眼就到了。</a:t>
            </a:r>
          </a:p>
          <a:p>
            <a:pPr algn="l">
              <a:lnSpc>
                <a:spcPct val="100000"/>
              </a:lnSpc>
              <a:spcBef>
                <a:spcPts val="0"/>
              </a:spcBef>
              <a:spcAft>
                <a:spcPts val="500"/>
              </a:spcAft>
            </a:pPr>
            <a:r>
              <a:rPr sz="1800" b="0" i="0">
                <a:solidFill>
                  <a:srgbClr val="000000"/>
                </a:solidFill>
                <a:latin typeface="Calibri"/>
              </a:rPr>
              <a:t>--老舍《北京的春节》</a:t>
            </a:r>
          </a:p>
          <a:p>
            <a:pPr algn="l">
              <a:lnSpc>
                <a:spcPct val="100000"/>
              </a:lnSpc>
              <a:spcBef>
                <a:spcPts val="0"/>
              </a:spcBef>
              <a:spcAft>
                <a:spcPts val="500"/>
              </a:spcAft>
            </a:pPr>
            <a:r>
              <a:rPr sz="1800" b="0" i="0">
                <a:solidFill>
                  <a:srgbClr val="000000"/>
                </a:solidFill>
                <a:latin typeface="SimSun"/>
              </a:rPr>
              <a:t>该句运用了什么修辞手法？有何作用？</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800" b="1" i="0">
                <a:solidFill>
                  <a:srgbClr val="FF0000"/>
                </a:solidFill>
                <a:latin typeface="SimSun"/>
              </a:rPr>
              <a:t>阅读答题技巧小纸条专题二--记叙文（6）</a:t>
            </a:r>
          </a:p>
          <a:p>
            <a:pPr algn="l">
              <a:lnSpc>
                <a:spcPct val="100000"/>
              </a:lnSpc>
              <a:spcBef>
                <a:spcPts val="0"/>
              </a:spcBef>
              <a:spcAft>
                <a:spcPts val="500"/>
              </a:spcAft>
            </a:pPr>
            <a:r>
              <a:rPr sz="1800" b="1" i="0">
                <a:solidFill>
                  <a:srgbClr val="C55E10"/>
                </a:solidFill>
                <a:latin typeface="SimSun"/>
              </a:rPr>
              <a:t>【3、赏析句子题--修辞手法：比喻、拟人、夸张、对比、反复、排比、反问等】</a:t>
            </a:r>
          </a:p>
          <a:p>
            <a:pPr algn="l">
              <a:lnSpc>
                <a:spcPct val="100000"/>
              </a:lnSpc>
              <a:spcBef>
                <a:spcPts val="0"/>
              </a:spcBef>
              <a:spcAft>
                <a:spcPts val="500"/>
              </a:spcAft>
            </a:pPr>
            <a:r>
              <a:rPr sz="1800" b="1" i="0">
                <a:solidFill>
                  <a:srgbClr val="2D54A0"/>
                </a:solidFill>
                <a:latin typeface="SimSun"/>
              </a:rPr>
              <a:t>【对比】</a:t>
            </a:r>
          </a:p>
          <a:p>
            <a:pPr algn="l">
              <a:lnSpc>
                <a:spcPct val="100000"/>
              </a:lnSpc>
              <a:spcBef>
                <a:spcPts val="0"/>
              </a:spcBef>
              <a:spcAft>
                <a:spcPts val="500"/>
              </a:spcAft>
            </a:pPr>
            <a:r>
              <a:rPr sz="1500" b="0" i="0">
                <a:solidFill>
                  <a:srgbClr val="FF0000"/>
                </a:solidFill>
                <a:latin typeface="SimSun"/>
              </a:rPr>
              <a:t>一、含义：通过将两个事物同一类似特征和指标或同一事物的两个不同方面进行比较，以突出它们的相似或相反之处，突出其中一个事物的特点或优势，从而强调其中一个方面或者凸显某种情感或观点。
二、例题：“有的人活着，他已经死了；有的人死了，他还活着”。
--臧克家《有的人》
三、答题模板：这句话运用对比的修辞手法，把xx 与xx 进行对比，突出了事物xx 特点，表达了作者xx 的情感。</a:t>
            </a:r>
          </a:p>
          <a:p>
            <a:pPr algn="l">
              <a:lnSpc>
                <a:spcPct val="100000"/>
              </a:lnSpc>
              <a:spcBef>
                <a:spcPts val="0"/>
              </a:spcBef>
              <a:spcAft>
                <a:spcPts val="500"/>
              </a:spcAft>
            </a:pPr>
            <a:r>
              <a:rPr sz="1500" b="0" i="0">
                <a:solidFill>
                  <a:srgbClr val="FF0000"/>
                </a:solidFill>
                <a:latin typeface="SimSun"/>
              </a:rPr>
              <a:t>例题作答：</a:t>
            </a:r>
          </a:p>
          <a:p>
            <a:pPr algn="l">
              <a:lnSpc>
                <a:spcPct val="100000"/>
              </a:lnSpc>
              <a:spcBef>
                <a:spcPts val="0"/>
              </a:spcBef>
              <a:spcAft>
                <a:spcPts val="500"/>
              </a:spcAft>
            </a:pPr>
            <a:r>
              <a:rPr sz="1500" b="0" i="0">
                <a:solidFill>
                  <a:srgbClr val="000000"/>
                </a:solidFill>
                <a:latin typeface="SimSun"/>
              </a:rPr>
              <a:t>【巩固训练】</a:t>
            </a:r>
          </a:p>
          <a:p>
            <a:pPr algn="l">
              <a:lnSpc>
                <a:spcPct val="100000"/>
              </a:lnSpc>
              <a:spcBef>
                <a:spcPts val="0"/>
              </a:spcBef>
              <a:spcAft>
                <a:spcPts val="500"/>
              </a:spcAft>
            </a:pPr>
            <a:r>
              <a:rPr sz="1500" b="0" i="0">
                <a:solidFill>
                  <a:srgbClr val="000000"/>
                </a:solidFill>
                <a:latin typeface="SimSun"/>
              </a:rPr>
              <a:t>为人民的利益而死，就比泰山还重；替法西斯卖命，替剥削和压迫人民的人去死，就比泰山还轻。
--毛泽东《为人民服务》</a:t>
            </a:r>
          </a:p>
          <a:p>
            <a:pPr algn="l">
              <a:lnSpc>
                <a:spcPct val="100000"/>
              </a:lnSpc>
              <a:spcBef>
                <a:spcPts val="0"/>
              </a:spcBef>
              <a:spcAft>
                <a:spcPts val="500"/>
              </a:spcAft>
            </a:pPr>
            <a:r>
              <a:rPr sz="1500" b="0" i="0">
                <a:solidFill>
                  <a:srgbClr val="000000"/>
                </a:solidFill>
                <a:latin typeface="SimSun"/>
              </a:rPr>
              <a:t>该句运用了什么修辞手法？有何作用？</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800" b="1" i="0">
                <a:solidFill>
                  <a:srgbClr val="FF0000"/>
                </a:solidFill>
                <a:latin typeface="SimSun"/>
              </a:rPr>
              <a:t>阅读答题技巧小纸条专题二--记叙文（7）</a:t>
            </a:r>
          </a:p>
          <a:p>
            <a:pPr algn="l">
              <a:lnSpc>
                <a:spcPct val="100000"/>
              </a:lnSpc>
              <a:spcBef>
                <a:spcPts val="0"/>
              </a:spcBef>
              <a:spcAft>
                <a:spcPts val="500"/>
              </a:spcAft>
            </a:pPr>
            <a:r>
              <a:rPr sz="1800" b="1" i="0">
                <a:solidFill>
                  <a:srgbClr val="C55E10"/>
                </a:solidFill>
                <a:latin typeface="SimSun"/>
              </a:rPr>
              <a:t>【3、赏析句子题--修辞手法：比喻、拟人、夸张、对比、反复、排比、反问等】</a:t>
            </a:r>
          </a:p>
          <a:p>
            <a:pPr algn="l">
              <a:lnSpc>
                <a:spcPct val="100000"/>
              </a:lnSpc>
              <a:spcBef>
                <a:spcPts val="0"/>
              </a:spcBef>
              <a:spcAft>
                <a:spcPts val="500"/>
              </a:spcAft>
            </a:pPr>
            <a:r>
              <a:rPr sz="1800" b="1" i="0">
                <a:solidFill>
                  <a:srgbClr val="2D54A0"/>
                </a:solidFill>
                <a:latin typeface="SimSun"/>
              </a:rPr>
              <a:t>【反复】</a:t>
            </a:r>
          </a:p>
          <a:p>
            <a:pPr algn="l">
              <a:lnSpc>
                <a:spcPct val="100000"/>
              </a:lnSpc>
              <a:spcBef>
                <a:spcPts val="0"/>
              </a:spcBef>
              <a:spcAft>
                <a:spcPts val="500"/>
              </a:spcAft>
            </a:pPr>
            <a:r>
              <a:rPr sz="1500" b="0" i="0">
                <a:solidFill>
                  <a:srgbClr val="FF0000"/>
                </a:solidFill>
                <a:latin typeface="SimSun"/>
              </a:rPr>
              <a:t>一、含义：排比是把三个或三个以上结构相似、内容相关、语气一致的语句排列在一起。（判断：出现3 次，结构相似，语意相关）
二、例题：“春天在哪里呀？春天在哪里？春天就在小朋友的眼睛里！”
三、答题模板：这句话运用排比的修辞手法，由“xx”一词引出三个结构相同/相似、内容相关、语气一致的句子构成，强调了xx 物的xx 特点，增强了文章的语言气势，表达了作者的xx 之情。</a:t>
            </a:r>
          </a:p>
          <a:p>
            <a:pPr algn="l">
              <a:lnSpc>
                <a:spcPct val="100000"/>
              </a:lnSpc>
              <a:spcBef>
                <a:spcPts val="0"/>
              </a:spcBef>
              <a:spcAft>
                <a:spcPts val="500"/>
              </a:spcAft>
            </a:pPr>
            <a:r>
              <a:rPr sz="1500" b="0" i="0">
                <a:solidFill>
                  <a:srgbClr val="FF0000"/>
                </a:solidFill>
                <a:latin typeface="SimSun"/>
              </a:rPr>
              <a:t>例题作答：</a:t>
            </a:r>
          </a:p>
          <a:p>
            <a:pPr algn="l">
              <a:lnSpc>
                <a:spcPct val="100000"/>
              </a:lnSpc>
              <a:spcBef>
                <a:spcPts val="0"/>
              </a:spcBef>
              <a:spcAft>
                <a:spcPts val="500"/>
              </a:spcAft>
            </a:pPr>
            <a:r>
              <a:rPr sz="1500" b="0" i="0">
                <a:solidFill>
                  <a:srgbClr val="000000"/>
                </a:solidFill>
                <a:latin typeface="SimSun"/>
              </a:rPr>
              <a:t>【巩固训练】</a:t>
            </a:r>
          </a:p>
          <a:p>
            <a:pPr algn="l">
              <a:lnSpc>
                <a:spcPct val="100000"/>
              </a:lnSpc>
              <a:spcBef>
                <a:spcPts val="0"/>
              </a:spcBef>
              <a:spcAft>
                <a:spcPts val="500"/>
              </a:spcAft>
            </a:pPr>
            <a:r>
              <a:rPr sz="1500" b="0" i="0">
                <a:solidFill>
                  <a:srgbClr val="000000"/>
                </a:solidFill>
                <a:latin typeface="SimSun"/>
              </a:rPr>
              <a:t>背直起来了，我的母亲。转过身来了，我的母亲。褐色的口罩上方，一对眼神疲惫的眼睛吃惊地望着我，我的母亲的眼睛……--梁晓声《慈母情深》</a:t>
            </a:r>
          </a:p>
          <a:p>
            <a:pPr algn="l">
              <a:lnSpc>
                <a:spcPct val="100000"/>
              </a:lnSpc>
              <a:spcBef>
                <a:spcPts val="0"/>
              </a:spcBef>
              <a:spcAft>
                <a:spcPts val="500"/>
              </a:spcAft>
            </a:pPr>
            <a:r>
              <a:rPr sz="1500" b="0" i="0">
                <a:solidFill>
                  <a:srgbClr val="000000"/>
                </a:solidFill>
                <a:latin typeface="SimSun"/>
              </a:rPr>
              <a:t>该句运用了什么修辞手法？有何作用？</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100" b="1" i="0">
                <a:solidFill>
                  <a:srgbClr val="FF0000"/>
                </a:solidFill>
                <a:latin typeface="SimSun"/>
              </a:rPr>
              <a:t>阅读答题技巧小纸条专题二--记叙文（8）</a:t>
            </a:r>
          </a:p>
          <a:p>
            <a:pPr algn="l">
              <a:lnSpc>
                <a:spcPct val="100000"/>
              </a:lnSpc>
              <a:spcBef>
                <a:spcPts val="0"/>
              </a:spcBef>
              <a:spcAft>
                <a:spcPts val="500"/>
              </a:spcAft>
            </a:pPr>
            <a:r>
              <a:rPr sz="2100" b="1" i="0">
                <a:solidFill>
                  <a:srgbClr val="C55E10"/>
                </a:solidFill>
                <a:latin typeface="SimSun"/>
              </a:rPr>
              <a:t>【3、赏析句子题--修辞手法：比喻、拟人、夸张、对比、反复、排比、反问等】</a:t>
            </a:r>
          </a:p>
          <a:p>
            <a:pPr algn="l">
              <a:lnSpc>
                <a:spcPct val="100000"/>
              </a:lnSpc>
              <a:spcBef>
                <a:spcPts val="0"/>
              </a:spcBef>
              <a:spcAft>
                <a:spcPts val="500"/>
              </a:spcAft>
            </a:pPr>
            <a:r>
              <a:rPr sz="2100" b="1" i="0">
                <a:solidFill>
                  <a:srgbClr val="2D54A0"/>
                </a:solidFill>
                <a:latin typeface="SimSun"/>
              </a:rPr>
              <a:t>【排比】</a:t>
            </a:r>
          </a:p>
          <a:p>
            <a:pPr algn="l">
              <a:lnSpc>
                <a:spcPct val="100000"/>
              </a:lnSpc>
              <a:spcBef>
                <a:spcPts val="0"/>
              </a:spcBef>
              <a:spcAft>
                <a:spcPts val="500"/>
              </a:spcAft>
            </a:pPr>
            <a:r>
              <a:rPr sz="1800" b="0" i="0">
                <a:solidFill>
                  <a:srgbClr val="FF0000"/>
                </a:solidFill>
                <a:latin typeface="SimSun"/>
              </a:rPr>
              <a:t>一、含义：排比是把三个或三个以上结构相似、内容相关、语气一致的语句排列在一起。
二、例题：燕子去了，有再来的时候;杨柳枯了，有再青的时候;桃花谢了，有再开的时候。但是，聪明的你，告诉我，我们的日子为什么一去不复返呢?
--朱自清《匆匆》
三、答题模板：运用排比的修辞手法，由“xx”一词引出三个结构相似，语意相关的句子，增强语气，强调了事物xx 的特点，表达了作者xx 的情感。</a:t>
            </a:r>
          </a:p>
          <a:p>
            <a:pPr algn="l">
              <a:lnSpc>
                <a:spcPct val="100000"/>
              </a:lnSpc>
              <a:spcBef>
                <a:spcPts val="0"/>
              </a:spcBef>
              <a:spcAft>
                <a:spcPts val="500"/>
              </a:spcAft>
            </a:pPr>
            <a:r>
              <a:rPr sz="1800" b="0" i="0">
                <a:solidFill>
                  <a:srgbClr val="FF0000"/>
                </a:solidFill>
                <a:latin typeface="SimSun"/>
              </a:rPr>
              <a:t>例题作答：</a:t>
            </a:r>
          </a:p>
          <a:p>
            <a:pPr algn="l">
              <a:lnSpc>
                <a:spcPct val="100000"/>
              </a:lnSpc>
              <a:spcBef>
                <a:spcPts val="0"/>
              </a:spcBef>
              <a:spcAft>
                <a:spcPts val="500"/>
              </a:spcAft>
            </a:pPr>
            <a:r>
              <a:rPr sz="1800" b="0" i="0">
                <a:solidFill>
                  <a:srgbClr val="000000"/>
                </a:solidFill>
                <a:latin typeface="SimSun"/>
              </a:rPr>
              <a:t>【巩固训练】</a:t>
            </a:r>
          </a:p>
          <a:p>
            <a:pPr algn="l">
              <a:lnSpc>
                <a:spcPct val="100000"/>
              </a:lnSpc>
              <a:spcBef>
                <a:spcPts val="0"/>
              </a:spcBef>
              <a:spcAft>
                <a:spcPts val="500"/>
              </a:spcAft>
            </a:pPr>
            <a:r>
              <a:rPr sz="1800" b="0" i="0">
                <a:solidFill>
                  <a:srgbClr val="000000"/>
                </a:solidFill>
                <a:latin typeface="SimSun"/>
              </a:rPr>
              <a:t>飘飘洒洒，纷纷扬扬，翩跹起舞，像鸟一样疾，像烟一样轻，像银一样白。
--《雪》</a:t>
            </a:r>
          </a:p>
          <a:p>
            <a:pPr algn="l">
              <a:lnSpc>
                <a:spcPct val="100000"/>
              </a:lnSpc>
              <a:spcBef>
                <a:spcPts val="0"/>
              </a:spcBef>
              <a:spcAft>
                <a:spcPts val="500"/>
              </a:spcAft>
            </a:pPr>
            <a:r>
              <a:rPr sz="1800" b="0" i="0">
                <a:solidFill>
                  <a:srgbClr val="000000"/>
                </a:solidFill>
                <a:latin typeface="SimSun"/>
              </a:rPr>
              <a:t>该句运用了什么修辞手法？有何作用？</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100" b="1" i="0">
                <a:solidFill>
                  <a:srgbClr val="FF0000"/>
                </a:solidFill>
                <a:latin typeface="SimSun"/>
              </a:rPr>
              <a:t>阅读答题技巧小纸条专题二--记叙文（9）</a:t>
            </a:r>
          </a:p>
          <a:p>
            <a:pPr algn="l">
              <a:lnSpc>
                <a:spcPct val="100000"/>
              </a:lnSpc>
              <a:spcBef>
                <a:spcPts val="0"/>
              </a:spcBef>
              <a:spcAft>
                <a:spcPts val="500"/>
              </a:spcAft>
            </a:pPr>
            <a:r>
              <a:rPr sz="2100" b="1" i="0">
                <a:solidFill>
                  <a:srgbClr val="C55E10"/>
                </a:solidFill>
                <a:latin typeface="SimSun"/>
              </a:rPr>
              <a:t>【3、赏析句子题--修辞手法：比喻、拟人、夸张、对比、反复、排比、反问等】</a:t>
            </a:r>
          </a:p>
          <a:p>
            <a:pPr algn="l">
              <a:lnSpc>
                <a:spcPct val="100000"/>
              </a:lnSpc>
              <a:spcBef>
                <a:spcPts val="0"/>
              </a:spcBef>
              <a:spcAft>
                <a:spcPts val="500"/>
              </a:spcAft>
            </a:pPr>
            <a:r>
              <a:rPr sz="2100" b="1" i="0">
                <a:solidFill>
                  <a:srgbClr val="2D54A0"/>
                </a:solidFill>
                <a:latin typeface="SimSun"/>
              </a:rPr>
              <a:t>【反问】</a:t>
            </a:r>
          </a:p>
          <a:p>
            <a:pPr algn="l">
              <a:lnSpc>
                <a:spcPct val="100000"/>
              </a:lnSpc>
              <a:spcBef>
                <a:spcPts val="0"/>
              </a:spcBef>
              <a:spcAft>
                <a:spcPts val="500"/>
              </a:spcAft>
            </a:pPr>
            <a:r>
              <a:rPr sz="1800" b="0" i="0">
                <a:solidFill>
                  <a:srgbClr val="FF0000"/>
                </a:solidFill>
                <a:latin typeface="SimSun"/>
              </a:rPr>
              <a:t>一、含义：反问是为了加强语气，用疑问句的形式表示确定的意思。它常用肯定的形式表示否定，用否定形式表示肯定。
二、例题：日出江花红胜火，春来江水绿如蓝。能不忆江南？
--白居易《忆江南》
三、答题模板：这句话运用了反问的修辞手法，写出了xx 内容，突出了xx 特点，加强语气，发人深思。</a:t>
            </a:r>
          </a:p>
          <a:p>
            <a:pPr algn="l">
              <a:lnSpc>
                <a:spcPct val="100000"/>
              </a:lnSpc>
              <a:spcBef>
                <a:spcPts val="0"/>
              </a:spcBef>
              <a:spcAft>
                <a:spcPts val="500"/>
              </a:spcAft>
            </a:pPr>
            <a:r>
              <a:rPr sz="1800" b="0" i="0">
                <a:solidFill>
                  <a:srgbClr val="FF0000"/>
                </a:solidFill>
                <a:latin typeface="SimSun"/>
              </a:rPr>
              <a:t>例题作答：</a:t>
            </a:r>
          </a:p>
          <a:p>
            <a:pPr algn="l">
              <a:lnSpc>
                <a:spcPct val="100000"/>
              </a:lnSpc>
              <a:spcBef>
                <a:spcPts val="0"/>
              </a:spcBef>
              <a:spcAft>
                <a:spcPts val="500"/>
              </a:spcAft>
            </a:pPr>
            <a:r>
              <a:rPr sz="1800" b="0" i="0">
                <a:solidFill>
                  <a:srgbClr val="000000"/>
                </a:solidFill>
                <a:latin typeface="SimSun"/>
              </a:rPr>
              <a:t>【巩固训练】</a:t>
            </a:r>
          </a:p>
          <a:p>
            <a:pPr algn="l">
              <a:lnSpc>
                <a:spcPct val="100000"/>
              </a:lnSpc>
              <a:spcBef>
                <a:spcPts val="0"/>
              </a:spcBef>
              <a:spcAft>
                <a:spcPts val="500"/>
              </a:spcAft>
            </a:pPr>
            <a:r>
              <a:rPr sz="1800" b="0" i="0">
                <a:solidFill>
                  <a:srgbClr val="000000"/>
                </a:solidFill>
                <a:latin typeface="SimSun"/>
              </a:rPr>
              <a:t>世界上还有几个剧种是戴着面具演出的呢?
世界上还有几个剧种在演出时是没有舞台的呢?
世界上还有几个剧种一部戏可以演出三五天还没有结束的呢?</a:t>
            </a:r>
          </a:p>
          <a:p>
            <a:pPr algn="l">
              <a:lnSpc>
                <a:spcPct val="100000"/>
              </a:lnSpc>
              <a:spcBef>
                <a:spcPts val="0"/>
              </a:spcBef>
              <a:spcAft>
                <a:spcPts val="500"/>
              </a:spcAft>
            </a:pPr>
            <a:r>
              <a:rPr sz="1800" b="0" i="0">
                <a:solidFill>
                  <a:srgbClr val="000000"/>
                </a:solidFill>
                <a:latin typeface="SimSun"/>
              </a:rPr>
              <a:t>--马晨明《藏戏》</a:t>
            </a:r>
          </a:p>
          <a:p>
            <a:pPr algn="l">
              <a:lnSpc>
                <a:spcPct val="100000"/>
              </a:lnSpc>
              <a:spcBef>
                <a:spcPts val="0"/>
              </a:spcBef>
              <a:spcAft>
                <a:spcPts val="500"/>
              </a:spcAft>
            </a:pPr>
            <a:r>
              <a:rPr sz="1800" b="0" i="0">
                <a:solidFill>
                  <a:srgbClr val="000000"/>
                </a:solidFill>
                <a:latin typeface="SimSun"/>
              </a:rPr>
              <a:t>该句运用了什么修辞手法？有何作用？</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800" b="1" i="0">
                <a:solidFill>
                  <a:srgbClr val="FF0000"/>
                </a:solidFill>
                <a:latin typeface="SimSun"/>
              </a:rPr>
              <a:t>阅读答题技巧小纸条专题二--记叙文（10）</a:t>
            </a:r>
          </a:p>
          <a:p>
            <a:pPr algn="l">
              <a:lnSpc>
                <a:spcPct val="100000"/>
              </a:lnSpc>
              <a:spcBef>
                <a:spcPts val="0"/>
              </a:spcBef>
              <a:spcAft>
                <a:spcPts val="500"/>
              </a:spcAft>
            </a:pPr>
            <a:r>
              <a:rPr sz="1500" b="0" i="0">
                <a:solidFill>
                  <a:srgbClr val="C55E10"/>
                </a:solidFill>
                <a:latin typeface="SimSun"/>
              </a:rPr>
              <a:t>【3、赏析句子题--描写方法：①人物描写②环境描写】</a:t>
            </a:r>
          </a:p>
          <a:p>
            <a:pPr algn="l">
              <a:lnSpc>
                <a:spcPct val="100000"/>
              </a:lnSpc>
              <a:spcBef>
                <a:spcPts val="0"/>
              </a:spcBef>
              <a:spcAft>
                <a:spcPts val="500"/>
              </a:spcAft>
            </a:pPr>
            <a:r>
              <a:rPr sz="1800" b="1" i="0">
                <a:solidFill>
                  <a:srgbClr val="2D54A0"/>
                </a:solidFill>
                <a:latin typeface="SimSun"/>
              </a:rPr>
              <a:t>【①人物描写：动作、语言、神态、心理、外貌描写】</a:t>
            </a:r>
          </a:p>
          <a:p>
            <a:pPr algn="l">
              <a:lnSpc>
                <a:spcPct val="100000"/>
              </a:lnSpc>
              <a:spcBef>
                <a:spcPts val="0"/>
              </a:spcBef>
              <a:spcAft>
                <a:spcPts val="500"/>
              </a:spcAft>
            </a:pPr>
            <a:r>
              <a:rPr sz="1500" b="0" i="0">
                <a:solidFill>
                  <a:srgbClr val="FF0000"/>
                </a:solidFill>
                <a:latin typeface="SimSun"/>
              </a:rPr>
              <a:t>一、含义：关于人物个性化的行动、动作的描写。（动作描写通常会出现一连串动词。）
二、例题：他坐在那里捧着搪瓷碗，嚼着几根草根和我们吃剩下的鱼骨头，嚼了一会儿，就皱紧眉头硬咽下去。
--杨旭《金色的鱼钩》
三、答题模板：这句话运用了动作的描写方法，通过“xx”“xx”等动作的描写，突出了人物xx 心理/情感/性格/品质。</a:t>
            </a:r>
          </a:p>
          <a:p>
            <a:pPr algn="l">
              <a:lnSpc>
                <a:spcPct val="100000"/>
              </a:lnSpc>
              <a:spcBef>
                <a:spcPts val="0"/>
              </a:spcBef>
              <a:spcAft>
                <a:spcPts val="500"/>
              </a:spcAft>
            </a:pPr>
            <a:r>
              <a:rPr sz="1500" b="0" i="0">
                <a:solidFill>
                  <a:srgbClr val="FF0000"/>
                </a:solidFill>
                <a:latin typeface="SimSun"/>
              </a:rPr>
              <a:t>例题作答：</a:t>
            </a:r>
          </a:p>
          <a:p>
            <a:pPr algn="l">
              <a:lnSpc>
                <a:spcPct val="100000"/>
              </a:lnSpc>
              <a:spcBef>
                <a:spcPts val="0"/>
              </a:spcBef>
              <a:spcAft>
                <a:spcPts val="500"/>
              </a:spcAft>
            </a:pPr>
            <a:r>
              <a:rPr sz="1500" b="0" i="0">
                <a:solidFill>
                  <a:srgbClr val="000000"/>
                </a:solidFill>
                <a:latin typeface="SimSun"/>
              </a:rPr>
              <a:t>【巩固训练】</a:t>
            </a:r>
          </a:p>
          <a:p>
            <a:pPr algn="l">
              <a:lnSpc>
                <a:spcPct val="100000"/>
              </a:lnSpc>
              <a:spcBef>
                <a:spcPts val="0"/>
              </a:spcBef>
              <a:spcAft>
                <a:spcPts val="500"/>
              </a:spcAft>
            </a:pPr>
            <a:r>
              <a:rPr sz="1500" b="0" i="0">
                <a:solidFill>
                  <a:srgbClr val="000000"/>
                </a:solidFill>
                <a:latin typeface="SimSun"/>
              </a:rPr>
              <a:t>自从来城里，母亲一直表现得惶恐不安，她觉得她给我添麻烦了。那日，母亲帮我收拾房间，无意中碰翻一只水晶花瓶。我回家，母亲正守着一堆碎片独自垂泪，她自责地说，我老得不中用了，连打扫一下房间的事都做不好。</a:t>
            </a:r>
          </a:p>
          <a:p>
            <a:pPr algn="l">
              <a:lnSpc>
                <a:spcPct val="100000"/>
              </a:lnSpc>
              <a:spcBef>
                <a:spcPts val="0"/>
              </a:spcBef>
              <a:spcAft>
                <a:spcPts val="500"/>
              </a:spcAft>
            </a:pPr>
            <a:r>
              <a:rPr sz="1500" b="0" i="0">
                <a:solidFill>
                  <a:srgbClr val="000000"/>
                </a:solidFill>
                <a:latin typeface="SimSun"/>
              </a:rPr>
              <a:t>我突然想起多年前，我还是个小女孩时，打碎家里唯一值钱的东西——一只暖水瓶，我并不知害怕，告诉母亲，是风吹倒的。母亲把我上上下下检查了一遍，看我伤了没有，而后揪我的鼻子，说：“还哄妈妈，哪里是风，是你这个小淘气。”我笑了，母亲也笑了。现在，我真的想母亲这样告诉我：“啊，是风吹倒的。”尽管我一再安慰她没事的没事的，母亲还是为此自责了好些天。
--丁立梅《如果可以这样爱你》</a:t>
            </a:r>
          </a:p>
          <a:p>
            <a:pPr algn="l">
              <a:lnSpc>
                <a:spcPct val="100000"/>
              </a:lnSpc>
              <a:spcBef>
                <a:spcPts val="0"/>
              </a:spcBef>
              <a:spcAft>
                <a:spcPts val="500"/>
              </a:spcAft>
            </a:pPr>
            <a:r>
              <a:rPr sz="1500" b="0" i="0">
                <a:solidFill>
                  <a:srgbClr val="000000"/>
                </a:solidFill>
                <a:latin typeface="SimSun"/>
              </a:rPr>
              <a:t>赏析画横线的句子。</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800" b="1" i="0">
                <a:solidFill>
                  <a:srgbClr val="FF0000"/>
                </a:solidFill>
                <a:latin typeface="SimSun"/>
              </a:rPr>
              <a:t>阅读答题技巧小纸条专题二--记叙文（11）</a:t>
            </a:r>
          </a:p>
          <a:p>
            <a:pPr algn="l">
              <a:lnSpc>
                <a:spcPct val="100000"/>
              </a:lnSpc>
              <a:spcBef>
                <a:spcPts val="0"/>
              </a:spcBef>
              <a:spcAft>
                <a:spcPts val="500"/>
              </a:spcAft>
            </a:pPr>
            <a:r>
              <a:rPr sz="1500" b="0" i="0">
                <a:solidFill>
                  <a:srgbClr val="C55E10"/>
                </a:solidFill>
                <a:latin typeface="SimSun"/>
              </a:rPr>
              <a:t>【3、赏析句子题--描写方法：①人物描写②环境描写】</a:t>
            </a:r>
          </a:p>
          <a:p>
            <a:pPr algn="l">
              <a:lnSpc>
                <a:spcPct val="100000"/>
              </a:lnSpc>
              <a:spcBef>
                <a:spcPts val="0"/>
              </a:spcBef>
              <a:spcAft>
                <a:spcPts val="500"/>
              </a:spcAft>
            </a:pPr>
            <a:r>
              <a:rPr sz="1800" b="1" i="0">
                <a:solidFill>
                  <a:srgbClr val="2D54A0"/>
                </a:solidFill>
                <a:latin typeface="SimSun"/>
              </a:rPr>
              <a:t>【①人物描写：动作、语言、神态、心理、外貌描写】</a:t>
            </a:r>
          </a:p>
          <a:p>
            <a:pPr algn="l">
              <a:lnSpc>
                <a:spcPct val="100000"/>
              </a:lnSpc>
              <a:spcBef>
                <a:spcPts val="0"/>
              </a:spcBef>
              <a:spcAft>
                <a:spcPts val="500"/>
              </a:spcAft>
            </a:pPr>
            <a:r>
              <a:rPr sz="1500" b="0" i="0">
                <a:solidFill>
                  <a:srgbClr val="FF0000"/>
                </a:solidFill>
                <a:latin typeface="SimSun"/>
              </a:rPr>
              <a:t>一、含义：包括人物的独白，对话。“言为心声”。人物的语言是人物内心世界的直接表现。
二、例题：他跑到连长身边，坚决地说：“连长，我去炸掉它！”
--《董存瑞舍身炸暗堡》
三、答题模板：这句话运用了语言的描写方法，通过人物“xx”的话语，感受到人物xx 心理/情感/
性格/品质。</a:t>
            </a:r>
          </a:p>
          <a:p>
            <a:pPr algn="l">
              <a:lnSpc>
                <a:spcPct val="100000"/>
              </a:lnSpc>
              <a:spcBef>
                <a:spcPts val="0"/>
              </a:spcBef>
              <a:spcAft>
                <a:spcPts val="500"/>
              </a:spcAft>
            </a:pPr>
            <a:r>
              <a:rPr sz="1500" b="0" i="0">
                <a:solidFill>
                  <a:srgbClr val="FF0000"/>
                </a:solidFill>
                <a:latin typeface="SimSun"/>
              </a:rPr>
              <a:t>例题作答：</a:t>
            </a:r>
          </a:p>
          <a:p>
            <a:pPr algn="l">
              <a:lnSpc>
                <a:spcPct val="100000"/>
              </a:lnSpc>
              <a:spcBef>
                <a:spcPts val="0"/>
              </a:spcBef>
              <a:spcAft>
                <a:spcPts val="500"/>
              </a:spcAft>
            </a:pPr>
            <a:r>
              <a:rPr sz="1500" b="0" i="0">
                <a:solidFill>
                  <a:srgbClr val="000000"/>
                </a:solidFill>
                <a:latin typeface="SimSun"/>
              </a:rPr>
              <a:t>【巩固训练】</a:t>
            </a:r>
          </a:p>
          <a:p>
            <a:pPr algn="l">
              <a:lnSpc>
                <a:spcPct val="100000"/>
              </a:lnSpc>
              <a:spcBef>
                <a:spcPts val="0"/>
              </a:spcBef>
              <a:spcAft>
                <a:spcPts val="500"/>
              </a:spcAft>
            </a:pPr>
            <a:r>
              <a:rPr sz="1500" b="0" i="0">
                <a:solidFill>
                  <a:srgbClr val="000000"/>
                </a:solidFill>
                <a:latin typeface="SimSun"/>
              </a:rPr>
              <a:t>看病时，母亲反复问医生的一句话是，她的手会不会废掉。医生严肃地说，说不准啊。母亲就有些凄然，她望着她的那双手，喃喃道：“怎么办呢?梅啊，妈妈的手废了，怕是以后不能再给你种瓜吃了。”我从小就喜欢吃地里长的瓜啊果的，母亲每年都会给我种许多。
--丁立梅《如果可以这样爱你》</a:t>
            </a:r>
          </a:p>
          <a:p>
            <a:pPr algn="l">
              <a:lnSpc>
                <a:spcPct val="100000"/>
              </a:lnSpc>
              <a:spcBef>
                <a:spcPts val="0"/>
              </a:spcBef>
              <a:spcAft>
                <a:spcPts val="500"/>
              </a:spcAft>
            </a:pPr>
            <a:r>
              <a:rPr sz="1500" b="0" i="0">
                <a:solidFill>
                  <a:srgbClr val="000000"/>
                </a:solidFill>
                <a:latin typeface="SimSun"/>
              </a:rPr>
              <a:t>赏析画横线的句子。</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800" b="1" i="0">
                <a:solidFill>
                  <a:srgbClr val="FF0000"/>
                </a:solidFill>
                <a:latin typeface="SimSun"/>
              </a:rPr>
              <a:t>阅读答题技巧小纸条专题二--记叙文（12）</a:t>
            </a:r>
          </a:p>
          <a:p>
            <a:pPr algn="l">
              <a:lnSpc>
                <a:spcPct val="100000"/>
              </a:lnSpc>
              <a:spcBef>
                <a:spcPts val="0"/>
              </a:spcBef>
              <a:spcAft>
                <a:spcPts val="500"/>
              </a:spcAft>
            </a:pPr>
            <a:r>
              <a:rPr sz="1500" b="0" i="0">
                <a:solidFill>
                  <a:srgbClr val="C55E10"/>
                </a:solidFill>
                <a:latin typeface="SimSun"/>
              </a:rPr>
              <a:t>【3、赏析句子题--描写方法：①人物描写②环境描写写】</a:t>
            </a:r>
          </a:p>
          <a:p>
            <a:pPr algn="l">
              <a:lnSpc>
                <a:spcPct val="100000"/>
              </a:lnSpc>
              <a:spcBef>
                <a:spcPts val="0"/>
              </a:spcBef>
              <a:spcAft>
                <a:spcPts val="500"/>
              </a:spcAft>
            </a:pPr>
            <a:r>
              <a:rPr sz="1800" b="1" i="0">
                <a:solidFill>
                  <a:srgbClr val="2D54A0"/>
                </a:solidFill>
                <a:latin typeface="SimSun"/>
              </a:rPr>
              <a:t>【①人物描写：动作、语言、神态、心理、外貌描写】</a:t>
            </a:r>
          </a:p>
          <a:p>
            <a:pPr algn="l">
              <a:lnSpc>
                <a:spcPct val="100000"/>
              </a:lnSpc>
              <a:spcBef>
                <a:spcPts val="0"/>
              </a:spcBef>
              <a:spcAft>
                <a:spcPts val="500"/>
              </a:spcAft>
            </a:pPr>
            <a:r>
              <a:rPr sz="1500" b="0" i="0">
                <a:solidFill>
                  <a:srgbClr val="FF0000"/>
                </a:solidFill>
                <a:latin typeface="SimSun"/>
              </a:rPr>
              <a:t>一、含义：指人物脸部的表情变化。如：哭（流泪）、笑、生气、眼神等。
二、例题：董存瑞瞪着敌人的暗堡，两眼迸射出仇恨的火花。
--《董存瑞舍身炸暗堡》
三、答题模板：这句话运用神态的描写方法，通过人物“xx”的神情，感受到人物xx 心理/情感/性格/品质。</a:t>
            </a:r>
          </a:p>
          <a:p>
            <a:pPr algn="l">
              <a:lnSpc>
                <a:spcPct val="100000"/>
              </a:lnSpc>
              <a:spcBef>
                <a:spcPts val="0"/>
              </a:spcBef>
              <a:spcAft>
                <a:spcPts val="500"/>
              </a:spcAft>
            </a:pPr>
            <a:r>
              <a:rPr sz="1500" b="0" i="0">
                <a:solidFill>
                  <a:srgbClr val="FF0000"/>
                </a:solidFill>
                <a:latin typeface="SimSun"/>
              </a:rPr>
              <a:t>例题作答：</a:t>
            </a:r>
          </a:p>
          <a:p>
            <a:pPr algn="l">
              <a:lnSpc>
                <a:spcPct val="100000"/>
              </a:lnSpc>
              <a:spcBef>
                <a:spcPts val="0"/>
              </a:spcBef>
              <a:spcAft>
                <a:spcPts val="500"/>
              </a:spcAft>
            </a:pPr>
            <a:r>
              <a:rPr sz="1500" b="0" i="0">
                <a:solidFill>
                  <a:srgbClr val="000000"/>
                </a:solidFill>
                <a:latin typeface="SimSun"/>
              </a:rPr>
              <a:t>【巩固训练】</a:t>
            </a:r>
          </a:p>
          <a:p>
            <a:pPr algn="l">
              <a:lnSpc>
                <a:spcPct val="100000"/>
              </a:lnSpc>
              <a:spcBef>
                <a:spcPts val="0"/>
              </a:spcBef>
              <a:spcAft>
                <a:spcPts val="500"/>
              </a:spcAft>
            </a:pPr>
            <a:r>
              <a:rPr sz="1500" b="0" i="0">
                <a:solidFill>
                  <a:srgbClr val="000000"/>
                </a:solidFill>
                <a:latin typeface="SimSun"/>
              </a:rPr>
              <a:t>“小姑娘，我要打烊了！”当耳边再一次响起这样的声音时，肖静一下子惊醒过来，原来天都黑了，书店老板</a:t>
            </a:r>
          </a:p>
          <a:p>
            <a:pPr algn="l">
              <a:lnSpc>
                <a:spcPct val="100000"/>
              </a:lnSpc>
              <a:spcBef>
                <a:spcPts val="0"/>
              </a:spcBef>
              <a:spcAft>
                <a:spcPts val="500"/>
              </a:spcAft>
            </a:pPr>
            <a:r>
              <a:rPr sz="1500" b="0" i="0">
                <a:solidFill>
                  <a:srgbClr val="000000"/>
                </a:solidFill>
                <a:latin typeface="SimSun"/>
              </a:rPr>
              <a:t>——一个六十开外的老先生，正温和地招呼着自己。</a:t>
            </a:r>
          </a:p>
          <a:p>
            <a:pPr algn="l">
              <a:lnSpc>
                <a:spcPct val="100000"/>
              </a:lnSpc>
              <a:spcBef>
                <a:spcPts val="0"/>
              </a:spcBef>
              <a:spcAft>
                <a:spcPts val="500"/>
              </a:spcAft>
            </a:pPr>
            <a:r>
              <a:rPr sz="1500" b="0" i="0">
                <a:solidFill>
                  <a:srgbClr val="000000"/>
                </a:solidFill>
                <a:latin typeface="SimSun"/>
              </a:rPr>
              <a:t>肖静的脸一下子红了，忙把书放回原处，低着头快步走出书店，可书中的世界依旧萦绕心头：小女孩能卖出火柴吗?她能熬过这个寒冬吗?
--衡德宏《天堂的模样》</a:t>
            </a:r>
          </a:p>
          <a:p>
            <a:pPr algn="l">
              <a:lnSpc>
                <a:spcPct val="100000"/>
              </a:lnSpc>
              <a:spcBef>
                <a:spcPts val="0"/>
              </a:spcBef>
              <a:spcAft>
                <a:spcPts val="500"/>
              </a:spcAft>
            </a:pPr>
            <a:r>
              <a:rPr sz="1500" b="0" i="0">
                <a:solidFill>
                  <a:srgbClr val="000000"/>
                </a:solidFill>
                <a:latin typeface="SimSun"/>
              </a:rPr>
              <a:t>请从描写方法的角度赏析画横线的句子。</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100" b="1" i="0">
                <a:solidFill>
                  <a:srgbClr val="FF0000"/>
                </a:solidFill>
                <a:latin typeface="SimSun"/>
              </a:rPr>
              <a:t>阅读答题技巧小纸条专题二--记叙文（13）</a:t>
            </a:r>
          </a:p>
          <a:p>
            <a:pPr algn="l">
              <a:lnSpc>
                <a:spcPct val="100000"/>
              </a:lnSpc>
              <a:spcBef>
                <a:spcPts val="0"/>
              </a:spcBef>
              <a:spcAft>
                <a:spcPts val="500"/>
              </a:spcAft>
            </a:pPr>
            <a:r>
              <a:rPr sz="1800" b="0" i="0">
                <a:solidFill>
                  <a:srgbClr val="C55E10"/>
                </a:solidFill>
                <a:latin typeface="SimSun"/>
              </a:rPr>
              <a:t>【3、赏析句子题--描写方法：①人物描写②环境描写写】</a:t>
            </a:r>
          </a:p>
          <a:p>
            <a:pPr algn="l">
              <a:lnSpc>
                <a:spcPct val="100000"/>
              </a:lnSpc>
              <a:spcBef>
                <a:spcPts val="0"/>
              </a:spcBef>
              <a:spcAft>
                <a:spcPts val="500"/>
              </a:spcAft>
            </a:pPr>
            <a:r>
              <a:rPr sz="2100" b="1" i="0">
                <a:solidFill>
                  <a:srgbClr val="2D54A0"/>
                </a:solidFill>
                <a:latin typeface="SimSun"/>
              </a:rPr>
              <a:t>【①人物描写：动作、语言、神态、心理、外貌描写】</a:t>
            </a:r>
          </a:p>
          <a:p>
            <a:pPr algn="l">
              <a:lnSpc>
                <a:spcPct val="100000"/>
              </a:lnSpc>
              <a:spcBef>
                <a:spcPts val="0"/>
              </a:spcBef>
              <a:spcAft>
                <a:spcPts val="500"/>
              </a:spcAft>
            </a:pPr>
            <a:r>
              <a:rPr sz="1800" b="0" i="0">
                <a:solidFill>
                  <a:srgbClr val="FF0000"/>
                </a:solidFill>
                <a:latin typeface="SimSun"/>
              </a:rPr>
              <a:t>一、含义：是人物描写的一种手法。是人物在特定环境中的心理活动过程或内心的感觉。
二、例题：我的心绷得紧紧的。这怎么忍受得了呢？我担心这个年轻的战士会突然跳起来，或者突然叫起来。我不敢朝他那边看，不忍眼巴巴地看着我的战友活活地烧死。但是，我忍不住不看，我盼望出现什么奇迹，火突然间熄灭了。我的心像刀绞一般，眼泪模糊了我的眼睛。
--李元兴《我的战友邱少云》
三、答题模板：这句话运用心理的描写方法，通过人物“xx”的心理描写，感受到人物xx 心理/情感/性格/品质。</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200" b="0" i="0">
                <a:solidFill>
                  <a:srgbClr val="FF0000"/>
                </a:solidFill>
                <a:latin typeface="SimSun"/>
              </a:rPr>
              <a:t>例题作答：</a:t>
            </a:r>
          </a:p>
          <a:p>
            <a:pPr algn="l">
              <a:lnSpc>
                <a:spcPct val="100000"/>
              </a:lnSpc>
              <a:spcBef>
                <a:spcPts val="0"/>
              </a:spcBef>
              <a:spcAft>
                <a:spcPts val="500"/>
              </a:spcAft>
            </a:pPr>
            <a:r>
              <a:rPr sz="2200" b="0" i="0">
                <a:solidFill>
                  <a:srgbClr val="000000"/>
                </a:solidFill>
                <a:latin typeface="SimSun"/>
              </a:rPr>
              <a:t>【巩固训练】</a:t>
            </a:r>
          </a:p>
          <a:p>
            <a:pPr algn="l">
              <a:lnSpc>
                <a:spcPct val="100000"/>
              </a:lnSpc>
              <a:spcBef>
                <a:spcPts val="0"/>
              </a:spcBef>
              <a:spcAft>
                <a:spcPts val="500"/>
              </a:spcAft>
            </a:pPr>
            <a:r>
              <a:rPr sz="2200" b="0" i="0">
                <a:solidFill>
                  <a:srgbClr val="000000"/>
                </a:solidFill>
                <a:latin typeface="SimSun"/>
              </a:rPr>
              <a:t>“小姑娘，我要打烊了！”当耳边再一次响起这样的声音时，肖静一下子惊醒过来，原来天都黑了，书店老板</a:t>
            </a:r>
          </a:p>
          <a:p>
            <a:pPr algn="l">
              <a:lnSpc>
                <a:spcPct val="100000"/>
              </a:lnSpc>
              <a:spcBef>
                <a:spcPts val="0"/>
              </a:spcBef>
              <a:spcAft>
                <a:spcPts val="500"/>
              </a:spcAft>
            </a:pPr>
            <a:r>
              <a:rPr sz="2200" b="0" i="0">
                <a:solidFill>
                  <a:srgbClr val="000000"/>
                </a:solidFill>
                <a:latin typeface="SimSun"/>
              </a:rPr>
              <a:t>——一个六十开外的老先生，正温和地招呼着自己。</a:t>
            </a:r>
          </a:p>
          <a:p>
            <a:pPr algn="l">
              <a:lnSpc>
                <a:spcPct val="100000"/>
              </a:lnSpc>
              <a:spcBef>
                <a:spcPts val="0"/>
              </a:spcBef>
              <a:spcAft>
                <a:spcPts val="500"/>
              </a:spcAft>
            </a:pPr>
            <a:r>
              <a:rPr sz="2200" b="0" i="0">
                <a:solidFill>
                  <a:srgbClr val="000000"/>
                </a:solidFill>
                <a:latin typeface="SimSun"/>
              </a:rPr>
              <a:t>肖静的脸一下子红了，忙把书放回原处，低着头快步走出书店，可书中的世界依旧萦绕心头：小女孩能卖出火柴吗?她能熬过这个寒冬吗?
--衡德宏《天堂的模样》</a:t>
            </a:r>
          </a:p>
          <a:p>
            <a:pPr algn="l">
              <a:lnSpc>
                <a:spcPct val="100000"/>
              </a:lnSpc>
              <a:spcBef>
                <a:spcPts val="0"/>
              </a:spcBef>
              <a:spcAft>
                <a:spcPts val="500"/>
              </a:spcAft>
            </a:pPr>
            <a:r>
              <a:rPr sz="2200" b="0" i="0">
                <a:solidFill>
                  <a:srgbClr val="000000"/>
                </a:solidFill>
                <a:latin typeface="SimSun"/>
              </a:rPr>
              <a:t>请从描写方法的角度赏析画横线的句子。</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800" b="1" i="0">
                <a:solidFill>
                  <a:srgbClr val="FF0000"/>
                </a:solidFill>
                <a:latin typeface="SimSun"/>
              </a:rPr>
              <a:t>阅读答题技巧小纸条专题二--记叙文（14）</a:t>
            </a:r>
          </a:p>
          <a:p>
            <a:pPr algn="l">
              <a:lnSpc>
                <a:spcPct val="100000"/>
              </a:lnSpc>
              <a:spcBef>
                <a:spcPts val="0"/>
              </a:spcBef>
              <a:spcAft>
                <a:spcPts val="500"/>
              </a:spcAft>
            </a:pPr>
            <a:r>
              <a:rPr sz="1500" b="0" i="0">
                <a:solidFill>
                  <a:srgbClr val="C55E10"/>
                </a:solidFill>
                <a:latin typeface="SimSun"/>
              </a:rPr>
              <a:t>【3、赏析句子题--描写方法：①人物描写②环境描写写】</a:t>
            </a:r>
          </a:p>
          <a:p>
            <a:pPr algn="l">
              <a:lnSpc>
                <a:spcPct val="100000"/>
              </a:lnSpc>
              <a:spcBef>
                <a:spcPts val="0"/>
              </a:spcBef>
              <a:spcAft>
                <a:spcPts val="500"/>
              </a:spcAft>
            </a:pPr>
            <a:r>
              <a:rPr sz="1800" b="1" i="0">
                <a:solidFill>
                  <a:srgbClr val="2D54A0"/>
                </a:solidFill>
                <a:latin typeface="SimSun"/>
              </a:rPr>
              <a:t>【①人物描写：动作、语言、神态、心理、外貌描写】</a:t>
            </a:r>
          </a:p>
          <a:p>
            <a:pPr algn="l">
              <a:lnSpc>
                <a:spcPct val="100000"/>
              </a:lnSpc>
              <a:spcBef>
                <a:spcPts val="0"/>
              </a:spcBef>
              <a:spcAft>
                <a:spcPts val="500"/>
              </a:spcAft>
            </a:pPr>
            <a:r>
              <a:rPr sz="1500" b="0" i="0">
                <a:solidFill>
                  <a:srgbClr val="FF0000"/>
                </a:solidFill>
                <a:latin typeface="SimSun"/>
              </a:rPr>
              <a:t>一、含义：外貌描写又叫肖像描写，是指对人物面貌、身材、衣着、姿态等的描写。
二、例题：阎振三摇了摇头。他那披散的长头发中间露出一张苍白的脸，显然是受过苦刑了。</a:t>
            </a:r>
          </a:p>
          <a:p>
            <a:pPr algn="l">
              <a:lnSpc>
                <a:spcPct val="100000"/>
              </a:lnSpc>
              <a:spcBef>
                <a:spcPts val="0"/>
              </a:spcBef>
              <a:spcAft>
                <a:spcPts val="500"/>
              </a:spcAft>
            </a:pPr>
            <a:r>
              <a:rPr sz="1500" b="0" i="0">
                <a:solidFill>
                  <a:srgbClr val="000000"/>
                </a:solidFill>
                <a:latin typeface="SimSun"/>
              </a:rPr>
              <a:t>--李星华《十六年前的回忆》
三、答题模板：这句话运用外貌的描写方法，通过人物“xx”的外貌描写，感受到人物xx 心理/情感/性格/品质，对塑造人物形象起烘托作用。</a:t>
            </a:r>
          </a:p>
          <a:p>
            <a:pPr algn="l">
              <a:lnSpc>
                <a:spcPct val="100000"/>
              </a:lnSpc>
              <a:spcBef>
                <a:spcPts val="0"/>
              </a:spcBef>
              <a:spcAft>
                <a:spcPts val="500"/>
              </a:spcAft>
            </a:pPr>
            <a:r>
              <a:rPr sz="1500" b="0" i="0">
                <a:solidFill>
                  <a:srgbClr val="FF0000"/>
                </a:solidFill>
                <a:latin typeface="SimSun"/>
              </a:rPr>
              <a:t>例题作答：</a:t>
            </a:r>
          </a:p>
          <a:p>
            <a:pPr algn="l">
              <a:lnSpc>
                <a:spcPct val="100000"/>
              </a:lnSpc>
              <a:spcBef>
                <a:spcPts val="0"/>
              </a:spcBef>
              <a:spcAft>
                <a:spcPts val="500"/>
              </a:spcAft>
            </a:pPr>
            <a:r>
              <a:rPr sz="1500" b="0" i="0">
                <a:solidFill>
                  <a:srgbClr val="000000"/>
                </a:solidFill>
                <a:latin typeface="SimSun"/>
              </a:rPr>
              <a:t>【巩固训练】</a:t>
            </a:r>
          </a:p>
          <a:p>
            <a:pPr algn="l">
              <a:lnSpc>
                <a:spcPct val="100000"/>
              </a:lnSpc>
              <a:spcBef>
                <a:spcPts val="0"/>
              </a:spcBef>
              <a:spcAft>
                <a:spcPts val="500"/>
              </a:spcAft>
            </a:pPr>
            <a:r>
              <a:rPr sz="1500" b="0" i="0">
                <a:solidFill>
                  <a:srgbClr val="000000"/>
                </a:solidFill>
                <a:latin typeface="Calibri"/>
              </a:rPr>
              <a:t>8 月中旬，我随科考队乘船来到哈苏里奥克土著族部落，考察那里的风土人情。
中午时分，我们把船停在离岸不远的河面，准备吃饭。这时，我看到一家土著人屋后有一棵大树,以前从没见过,问船上的人，也没人知道树名。岸边有个中年妇女正在洗衣服，一个小女孩在旁边玩耍，估计是她的女儿，六七岁的样子，皮肤很黑，光着膀子，清晰的肋(Ièi)骨显示出营养不良。</a:t>
            </a:r>
          </a:p>
          <a:p>
            <a:pPr algn="l">
              <a:lnSpc>
                <a:spcPct val="100000"/>
              </a:lnSpc>
              <a:spcBef>
                <a:spcPts val="0"/>
              </a:spcBef>
              <a:spcAft>
                <a:spcPts val="500"/>
              </a:spcAft>
            </a:pPr>
            <a:r>
              <a:rPr sz="1500" b="0" i="0">
                <a:solidFill>
                  <a:srgbClr val="000000"/>
                </a:solidFill>
                <a:latin typeface="Calibri"/>
              </a:rPr>
              <a:t>--《付不起的小费》</a:t>
            </a:r>
          </a:p>
          <a:p>
            <a:pPr algn="l">
              <a:lnSpc>
                <a:spcPct val="100000"/>
              </a:lnSpc>
              <a:spcBef>
                <a:spcPts val="0"/>
              </a:spcBef>
              <a:spcAft>
                <a:spcPts val="500"/>
              </a:spcAft>
            </a:pPr>
            <a:r>
              <a:rPr sz="1500" b="0" i="0">
                <a:solidFill>
                  <a:srgbClr val="000000"/>
                </a:solidFill>
                <a:latin typeface="SimSun"/>
              </a:rPr>
              <a:t>画“”的句子是对小女孩的什么描写？表现了什么？</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800" b="1" i="0">
                <a:solidFill>
                  <a:srgbClr val="FF0000"/>
                </a:solidFill>
                <a:latin typeface="SimSun"/>
              </a:rPr>
              <a:t>阅读答题技巧小纸条专题二--记叙文（15）</a:t>
            </a:r>
          </a:p>
          <a:p>
            <a:pPr algn="l">
              <a:lnSpc>
                <a:spcPct val="100000"/>
              </a:lnSpc>
              <a:spcBef>
                <a:spcPts val="0"/>
              </a:spcBef>
              <a:spcAft>
                <a:spcPts val="500"/>
              </a:spcAft>
            </a:pPr>
            <a:r>
              <a:rPr sz="1500" b="0" i="0">
                <a:solidFill>
                  <a:srgbClr val="C55E10"/>
                </a:solidFill>
                <a:latin typeface="SimSun"/>
              </a:rPr>
              <a:t>【3、赏析句子题--描写方法：①人物描写②环境描写写】</a:t>
            </a:r>
          </a:p>
          <a:p>
            <a:pPr algn="l">
              <a:lnSpc>
                <a:spcPct val="100000"/>
              </a:lnSpc>
              <a:spcBef>
                <a:spcPts val="0"/>
              </a:spcBef>
              <a:spcAft>
                <a:spcPts val="500"/>
              </a:spcAft>
            </a:pPr>
            <a:r>
              <a:rPr sz="1800" b="1" i="0">
                <a:solidFill>
                  <a:srgbClr val="2D54A0"/>
                </a:solidFill>
                <a:latin typeface="SimSun"/>
              </a:rPr>
              <a:t>【②环境描写：自然环境、社会环境（小学考题不对此进行区分）】</a:t>
            </a:r>
          </a:p>
          <a:p>
            <a:pPr algn="l">
              <a:lnSpc>
                <a:spcPct val="100000"/>
              </a:lnSpc>
              <a:spcBef>
                <a:spcPts val="0"/>
              </a:spcBef>
              <a:spcAft>
                <a:spcPts val="500"/>
              </a:spcAft>
            </a:pPr>
            <a:r>
              <a:rPr sz="1500" b="0" i="0">
                <a:solidFill>
                  <a:srgbClr val="FF0000"/>
                </a:solidFill>
                <a:latin typeface="SimSun"/>
              </a:rPr>
              <a:t>一、含义：是指对人物所处的具体的社会环境和自然环境的描写。
二、答题模板：运用环境描写，①交代了故事发生的时间、地点、气候。②渲染了xx 气氛。写出了环境xx 的特点（恶劣、温馨、凄凉等），烘托人物xx 的心情。（美景心情愉悦，恶劣的环境反之）
③推动了情节的发展。（如《桥》中下暴雨，山洪来袭，后文老书记疏散人群。“暴雨、山洪”这个环境推动了故事情节发展）④为下文xx 内容埋下伏笔或作铺垫。⑤凸显人物xx 的形象/品质。
三、例题：
善良是心灵的灯盏
①风中夹杂着雪花，纷纷扬扬，如柳絮般飘落，小小山村，已经变成了粉妆玉砌的世界，显得那么晶莹、那么剔透、那么恬静。下了火车，他下意识地裹紧了棉衣，朝家的方向走去。简陋的家中，有他朝思暮想的妻子，有花骨朵般的女儿，有浓香的羹汤。想到这里，他的嘴角浮起一抹笑意。</a:t>
            </a:r>
          </a:p>
          <a:p>
            <a:pPr algn="l">
              <a:lnSpc>
                <a:spcPct val="100000"/>
              </a:lnSpc>
              <a:spcBef>
                <a:spcPts val="0"/>
              </a:spcBef>
              <a:spcAft>
                <a:spcPts val="500"/>
              </a:spcAft>
            </a:pPr>
            <a:r>
              <a:rPr sz="1500" b="0" i="0">
                <a:solidFill>
                  <a:srgbClr val="000000"/>
                </a:solidFill>
                <a:latin typeface="SimSun"/>
              </a:rPr>
              <a:t>②刚结婚那会儿，家里真的很穷，妻子爱意灼灼的眼神，让他心里升起阵阵暖意，女儿半岁时，他决定跟同乡一起外出打工，苦些累些都不怕，他只想多挣些钱，让她们过上殷实的日子。</a:t>
            </a:r>
          </a:p>
          <a:p>
            <a:pPr algn="l">
              <a:lnSpc>
                <a:spcPct val="100000"/>
              </a:lnSpc>
              <a:spcBef>
                <a:spcPts val="0"/>
              </a:spcBef>
              <a:spcAft>
                <a:spcPts val="500"/>
              </a:spcAft>
            </a:pPr>
            <a:r>
              <a:rPr sz="1500" b="0" i="0">
                <a:solidFill>
                  <a:srgbClr val="000000"/>
                </a:solidFill>
                <a:latin typeface="SimSun"/>
              </a:rPr>
              <a:t>③这两年，他披星戴月地干活，任城市的风尘皲裂了双手。他留下极少的生活费，其余的钱定期寄往家里，为了省下路费，连续两年没有回家。春节临近，思念更加煎熬着他的心，他决定怀揣积攒的血汗钱，回家过个团圆年。</a:t>
            </a:r>
          </a:p>
          <a:p>
            <a:pPr algn="l">
              <a:lnSpc>
                <a:spcPct val="100000"/>
              </a:lnSpc>
              <a:spcBef>
                <a:spcPts val="0"/>
              </a:spcBef>
              <a:spcAft>
                <a:spcPts val="500"/>
              </a:spcAft>
            </a:pPr>
            <a:r>
              <a:rPr sz="1500" b="0" i="0">
                <a:solidFill>
                  <a:srgbClr val="000000"/>
                </a:solidFill>
                <a:latin typeface="SimSun"/>
              </a:rPr>
              <a:t>④走进院落，房门紧锁。妻在信里提到过，家里门锁损坏，临时换了新锁。等了一会，有些着急，心想，干脆到外面走走，给女儿买些零食和玩具。离开家时，她还是襁褓中的小粉团，如今女儿长高了，会喊爸爸了吧?</a:t>
            </a:r>
          </a:p>
          <a:p>
            <a:pPr algn="l">
              <a:lnSpc>
                <a:spcPct val="100000"/>
              </a:lnSpc>
              <a:spcBef>
                <a:spcPts val="0"/>
              </a:spcBef>
              <a:spcAft>
                <a:spcPts val="500"/>
              </a:spcAft>
            </a:pPr>
            <a:r>
              <a:rPr sz="1500" b="0" i="0">
                <a:solidFill>
                  <a:srgbClr val="000000"/>
                </a:solidFill>
                <a:latin typeface="SimSun"/>
              </a:rPr>
              <a:t>⑤他挑了一兜蜜桔，又买了毛绒小熊。转身往回走，路过一家小诊所。诊所门口有个女人，抱着孩子轻轻地晃，急得泪珠直往下落。“怎么办?这可怎么办?”女人像是絮絮自语，又像是在对他诉说。</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000000"/>
                </a:solidFill>
                <a:latin typeface="SimSun"/>
              </a:rPr>
              <a:t>⑥他愣了一下，试着问：“怎么回事?”女人叹了口气，说：“孩子发高烧，带的钱不够。你看，烧得有些迷糊，真怕耽误了病情。”他低头一看，小女孩脸色红红的，偎在女人怀里嘤嘤地哭。</a:t>
            </a:r>
          </a:p>
          <a:p>
            <a:pPr algn="l">
              <a:lnSpc>
                <a:spcPct val="100000"/>
              </a:lnSpc>
              <a:spcBef>
                <a:spcPts val="0"/>
              </a:spcBef>
              <a:spcAft>
                <a:spcPts val="500"/>
              </a:spcAft>
            </a:pPr>
            <a:r>
              <a:rPr sz="1500" b="0" i="0">
                <a:solidFill>
                  <a:srgbClr val="000000"/>
                </a:solidFill>
                <a:latin typeface="SimSun"/>
              </a:rPr>
              <a:t>⑦摸了摸衣兜，闪过几分犹豫。他想起在外打工的艰难，每张钱都浸透着汗水。但转念一想，如果对面是自己的家人，面临这样的窘境，他多么希望能有一颗善心，一双温暖的手，帮她们渡过难关。</a:t>
            </a:r>
          </a:p>
          <a:p>
            <a:pPr algn="l">
              <a:lnSpc>
                <a:spcPct val="100000"/>
              </a:lnSpc>
              <a:spcBef>
                <a:spcPts val="0"/>
              </a:spcBef>
              <a:spcAft>
                <a:spcPts val="500"/>
              </a:spcAft>
            </a:pPr>
            <a:r>
              <a:rPr sz="1500" b="0" i="0">
                <a:solidFill>
                  <a:srgbClr val="000000"/>
                </a:solidFill>
                <a:latin typeface="SimSun"/>
              </a:rPr>
              <a:t>⑧他侧过身，从棉衣内兜里摸出钱夹，抽出一张50 元，对女人说：“拿着，给孩子看病要紧。”女人望着衣</a:t>
            </a:r>
            <a:r>
              <a:rPr sz="1500" b="0" i="0">
                <a:solidFill>
                  <a:srgbClr val="000000"/>
                </a:solidFill>
                <a:latin typeface="SimSun"/>
              </a:rPr>
              <a:t>着简朴、有些木讷的他，眼泪再次夺眶而出。他说：“快点取药去吧，先给孩子挂上针。”</a:t>
            </a:r>
          </a:p>
          <a:p>
            <a:pPr algn="l">
              <a:lnSpc>
                <a:spcPct val="100000"/>
              </a:lnSpc>
              <a:spcBef>
                <a:spcPts val="0"/>
              </a:spcBef>
              <a:spcAft>
                <a:spcPts val="500"/>
              </a:spcAft>
            </a:pPr>
            <a:r>
              <a:rPr sz="1500" b="0" i="0">
                <a:solidFill>
                  <a:srgbClr val="000000"/>
                </a:solidFill>
                <a:latin typeface="SimSun"/>
              </a:rPr>
              <a:t>⑨有些放心不下，他跟在女人后面，陪孩子打了退烧针，又挂上吊瓶，这才舒了口气。到底是孩子，烧刚退下一些，就有了精气神。柔嫩粉红的小脸上，大眼睛闪烁如星，对着他手里的小熊，咯咯地直笑。</a:t>
            </a:r>
          </a:p>
          <a:p>
            <a:pPr algn="l">
              <a:lnSpc>
                <a:spcPct val="100000"/>
              </a:lnSpc>
              <a:spcBef>
                <a:spcPts val="0"/>
              </a:spcBef>
              <a:spcAft>
                <a:spcPts val="500"/>
              </a:spcAft>
            </a:pPr>
            <a:r>
              <a:rPr sz="1500" b="0" i="0">
                <a:solidFill>
                  <a:srgbClr val="000000"/>
                </a:solidFill>
                <a:latin typeface="SimSun"/>
              </a:rPr>
              <a:t>⑩他把小熊递给女孩，说：“你是勇敢的孩子，叔叔奖励你一个小熊。”小女孩接过小熊，宝贝似的搂在怀里，女人低头望着孩子，眼里全是疼爱。看到女孩已无大碍，他转身离开了医院。</a:t>
            </a:r>
          </a:p>
          <a:p>
            <a:pPr algn="l">
              <a:lnSpc>
                <a:spcPct val="100000"/>
              </a:lnSpc>
              <a:spcBef>
                <a:spcPts val="0"/>
              </a:spcBef>
              <a:spcAft>
                <a:spcPts val="500"/>
              </a:spcAft>
            </a:pPr>
            <a:r>
              <a:rPr sz="1500" b="0" i="0">
                <a:solidFill>
                  <a:srgbClr val="000000"/>
                </a:solidFill>
                <a:latin typeface="MS-PGothic"/>
              </a:rPr>
              <a:t>⑪回到家，妻子仍没回来。他倚在门口，又困又累，不知不觉睡着了。不知过了多久，他被轻柔的声音唤醒，揉揉惺忪的眼睛，看到站在眼前的妻子。他咧嘴一笑，笑容突然凝固在脸上。原来，妻子的旁边站着的小女孩，怀里抱着毛绒小熊。</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200" b="0" i="0">
                <a:solidFill>
                  <a:srgbClr val="000000"/>
                </a:solidFill>
                <a:latin typeface="MS-PGothic"/>
              </a:rPr>
              <a:t>⑫妻子笑吟吟地说：“女儿今天发起高烧，幸亏幼儿园老师带她看病，现在好多了。”他把女孩揽进怀里，亲了又亲，将几滴热泪蹭到女孩脸上，引得妻子莫名其妙。</a:t>
            </a:r>
          </a:p>
          <a:p>
            <a:pPr algn="l">
              <a:lnSpc>
                <a:spcPct val="100000"/>
              </a:lnSpc>
              <a:spcBef>
                <a:spcPts val="0"/>
              </a:spcBef>
              <a:spcAft>
                <a:spcPts val="500"/>
              </a:spcAft>
            </a:pPr>
            <a:r>
              <a:rPr sz="2200" b="0" i="0">
                <a:solidFill>
                  <a:srgbClr val="000000"/>
                </a:solidFill>
                <a:latin typeface="MS-PGothic"/>
              </a:rPr>
              <a:t>⑬在外打工的日子，他遇到过各色目光，深感自身卑微如草芥。但无论何时何境，他的心里始终亮着“善良”的灯盏。正是这盏灯，让他固守内心的纯净，引领他回到温暖的家园。</a:t>
            </a:r>
          </a:p>
          <a:p>
            <a:pPr algn="l">
              <a:lnSpc>
                <a:spcPct val="100000"/>
              </a:lnSpc>
              <a:spcBef>
                <a:spcPts val="0"/>
              </a:spcBef>
              <a:spcAft>
                <a:spcPts val="500"/>
              </a:spcAft>
            </a:pPr>
            <a:r>
              <a:rPr sz="2200" b="0" i="0">
                <a:solidFill>
                  <a:srgbClr val="000000"/>
                </a:solidFill>
                <a:latin typeface="SimSun"/>
              </a:rPr>
              <a:t>请画出第①段画横线的句子，并分析它的作用。</a:t>
            </a:r>
          </a:p>
          <a:p>
            <a:pPr algn="l">
              <a:lnSpc>
                <a:spcPct val="100000"/>
              </a:lnSpc>
              <a:spcBef>
                <a:spcPts val="0"/>
              </a:spcBef>
              <a:spcAft>
                <a:spcPts val="500"/>
              </a:spcAft>
            </a:pPr>
            <a:r>
              <a:rPr sz="2200" b="0" i="0">
                <a:solidFill>
                  <a:srgbClr val="FF0000"/>
                </a:solidFill>
                <a:latin typeface="SimSun"/>
              </a:rPr>
              <a:t>例题作答：</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000000"/>
                </a:solidFill>
                <a:latin typeface="SimSun"/>
              </a:rPr>
              <a:t>【巩固训练】
母亲的眼泪</a:t>
            </a:r>
          </a:p>
          <a:p>
            <a:pPr algn="l">
              <a:lnSpc>
                <a:spcPct val="100000"/>
              </a:lnSpc>
              <a:spcBef>
                <a:spcPts val="0"/>
              </a:spcBef>
              <a:spcAft>
                <a:spcPts val="500"/>
              </a:spcAft>
            </a:pPr>
            <a:r>
              <a:rPr sz="1500" b="0" i="0">
                <a:solidFill>
                  <a:srgbClr val="000000"/>
                </a:solidFill>
                <a:latin typeface="SimSun"/>
              </a:rPr>
              <a:t>①深秋，一场冷雨，淅淅沥沥。院子里，一蓬葡萄架下，一只破坛子笼着浓浓的夜色。一只雏燕，栖息在坛底下，又是寒冷又是伤心，缩成一团，瑟瑟发抖。她孤苦伶仃。两个姐姐已经南飞，妈妈，亲爱的妈妈也已经向着温暖的地方远走高飞。又湿又冷的夜晚，谁能给她以温暖呢?</a:t>
            </a:r>
          </a:p>
          <a:p>
            <a:pPr algn="l">
              <a:lnSpc>
                <a:spcPct val="100000"/>
              </a:lnSpc>
              <a:spcBef>
                <a:spcPts val="0"/>
              </a:spcBef>
              <a:spcAft>
                <a:spcPts val="500"/>
              </a:spcAft>
            </a:pPr>
            <a:r>
              <a:rPr sz="1500" b="0" i="0">
                <a:solidFill>
                  <a:srgbClr val="000000"/>
                </a:solidFill>
                <a:latin typeface="SimSun"/>
              </a:rPr>
              <a:t>②她在坛底孑然一身，因为她身残飞不动了。那还是夏天，她们栖息在屋檐下，房子突然失火。母亲赶回来抢救，但为时已晚。一粒红红的火星飞进巢穴，烧着赤条条刚出生的她，烧伤了她的翅膀，她痛晕了过去。当她醒来时，已在一个新的巢穴，母亲低垂着头坐在她旁边，哭泣着，十分悲痛。她想抖动一下翅膀坐起来，但徒劳无功，因为左面的翅膀被烧伤，萎缩了。</a:t>
            </a:r>
          </a:p>
          <a:p>
            <a:pPr algn="l">
              <a:lnSpc>
                <a:spcPct val="100000"/>
              </a:lnSpc>
              <a:spcBef>
                <a:spcPts val="0"/>
              </a:spcBef>
              <a:spcAft>
                <a:spcPts val="500"/>
              </a:spcAft>
            </a:pPr>
            <a:r>
              <a:rPr sz="1500" b="0" i="0">
                <a:solidFill>
                  <a:srgbClr val="000000"/>
                </a:solidFill>
                <a:latin typeface="SimSun"/>
              </a:rPr>
              <a:t>③夏天过去了，葡萄的颜色变深了。妈妈说：“亲爱的孩子，我们今天要南飞了。你飞不了，只好留下。葡萄架下的坛子里，我用羽毛做了一个柔软的床铺。以后这就是你的窝，饿时你可以爬出去吃点儿东西，院子里葡萄籽、小虫都很多。等到春天来临，我们再回来找你。”</a:t>
            </a:r>
          </a:p>
          <a:p>
            <a:pPr algn="l">
              <a:lnSpc>
                <a:spcPct val="100000"/>
              </a:lnSpc>
              <a:spcBef>
                <a:spcPts val="0"/>
              </a:spcBef>
              <a:spcAft>
                <a:spcPts val="500"/>
              </a:spcAft>
            </a:pPr>
            <a:r>
              <a:rPr sz="1500" b="0" i="0">
                <a:solidFill>
                  <a:srgbClr val="000000"/>
                </a:solidFill>
                <a:latin typeface="SimSun"/>
              </a:rPr>
              <a:t>④“谢谢妈妈，谢谢您的安排！”小燕子凄然地说。为了掩饰流泪，她把头扎进了母亲的翼下……</a:t>
            </a:r>
          </a:p>
          <a:p>
            <a:pPr algn="l">
              <a:lnSpc>
                <a:spcPct val="100000"/>
              </a:lnSpc>
              <a:spcBef>
                <a:spcPts val="0"/>
              </a:spcBef>
              <a:spcAft>
                <a:spcPts val="500"/>
              </a:spcAft>
            </a:pPr>
            <a:r>
              <a:rPr sz="1500" b="0" i="0">
                <a:solidFill>
                  <a:srgbClr val="000000"/>
                </a:solidFill>
                <a:latin typeface="SimSun"/>
              </a:rPr>
              <a:t>⑤她们飞走了！冬天要来了！</a:t>
            </a:r>
          </a:p>
          <a:p>
            <a:pPr algn="l">
              <a:lnSpc>
                <a:spcPct val="100000"/>
              </a:lnSpc>
              <a:spcBef>
                <a:spcPts val="0"/>
              </a:spcBef>
              <a:spcAft>
                <a:spcPts val="500"/>
              </a:spcAft>
            </a:pPr>
            <a:r>
              <a:rPr sz="1500" b="0" i="0">
                <a:solidFill>
                  <a:srgbClr val="000000"/>
                </a:solidFill>
                <a:latin typeface="SimSun"/>
              </a:rPr>
              <a:t>⑥忧苦伤心的日子一天天过去。这天，葡萄藤下，一滴雨水，从最低的一片葡萄叶上滚下，快要落地时，小燕子听到了雨水的叹气声：“唉，累死我了！”</a:t>
            </a:r>
          </a:p>
          <a:p>
            <a:pPr algn="l">
              <a:lnSpc>
                <a:spcPct val="100000"/>
              </a:lnSpc>
              <a:spcBef>
                <a:spcPts val="0"/>
              </a:spcBef>
              <a:spcAft>
                <a:spcPts val="500"/>
              </a:spcAft>
            </a:pPr>
            <a:r>
              <a:rPr sz="1500" b="0" i="0">
                <a:solidFill>
                  <a:srgbClr val="000000"/>
                </a:solidFill>
                <a:latin typeface="SimSun"/>
              </a:rPr>
              <a:t>⑦“您从哪儿来?”小燕子抬头问。</a:t>
            </a:r>
          </a:p>
          <a:p>
            <a:pPr algn="l">
              <a:lnSpc>
                <a:spcPct val="100000"/>
              </a:lnSpc>
              <a:spcBef>
                <a:spcPts val="0"/>
              </a:spcBef>
              <a:spcAft>
                <a:spcPts val="500"/>
              </a:spcAft>
            </a:pPr>
            <a:r>
              <a:rPr sz="1500" b="0" i="0">
                <a:solidFill>
                  <a:srgbClr val="000000"/>
                </a:solidFill>
                <a:latin typeface="SimSun"/>
              </a:rPr>
              <a:t>⑧“噢，亲爱的，我远道而来，我从大洋上来，我出生在海洋上，我不是一滴雨水，而是一滴眼泪。”</a:t>
            </a:r>
          </a:p>
          <a:p>
            <a:pPr algn="l">
              <a:lnSpc>
                <a:spcPct val="100000"/>
              </a:lnSpc>
              <a:spcBef>
                <a:spcPts val="0"/>
              </a:spcBef>
              <a:spcAft>
                <a:spcPts val="500"/>
              </a:spcAft>
            </a:pPr>
            <a:r>
              <a:rPr sz="1500" b="0" i="0">
                <a:solidFill>
                  <a:srgbClr val="000000"/>
                </a:solidFill>
                <a:latin typeface="SimSun"/>
              </a:rPr>
              <a:t>⑨“一滴眼泪?谁的眼泪?”雏燕急切地问。</a:t>
            </a:r>
          </a:p>
          <a:p>
            <a:pPr algn="l">
              <a:lnSpc>
                <a:spcPct val="100000"/>
              </a:lnSpc>
              <a:spcBef>
                <a:spcPts val="0"/>
              </a:spcBef>
              <a:spcAft>
                <a:spcPts val="500"/>
              </a:spcAft>
            </a:pPr>
            <a:r>
              <a:rPr sz="1500" b="0" i="0">
                <a:solidFill>
                  <a:srgbClr val="000000"/>
                </a:solidFill>
                <a:latin typeface="SimSun"/>
              </a:rPr>
              <a:t>⑩“一位母亲的眼泪。我生命的故事十分简短。九天以前，一只巨大的远洋轮船的桅杆上，栖息着一只燕子，</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000000"/>
                </a:solidFill>
                <a:latin typeface="SimSun"/>
              </a:rPr>
              <a:t>她疲惫不堪，眼泪汪汪。我就从这只悲伤的燕子的右眼里诞生。狂风呼啸时，燕子用微弱的声音乞求风说：‘风兄弟，你周游列国时，一定要去保加利亚帮我看看那孤零零可怜的孩子。告诉她，院子里有一只大黑猫，要躲远</a:t>
            </a:r>
          </a:p>
          <a:p>
            <a:pPr algn="l">
              <a:lnSpc>
                <a:spcPct val="100000"/>
              </a:lnSpc>
              <a:spcBef>
                <a:spcPts val="0"/>
              </a:spcBef>
              <a:spcAft>
                <a:spcPts val="500"/>
              </a:spcAft>
            </a:pPr>
            <a:r>
              <a:rPr sz="1500" b="0" i="0">
                <a:solidFill>
                  <a:srgbClr val="000000"/>
                </a:solidFill>
                <a:latin typeface="SimSun"/>
              </a:rPr>
              <a:t>一点。我走时忘了告诉她……’‘你的孩子在哪里?’风问。‘我把她留在院子里，一蓬葡萄架下的一只破烂的坛子里。’燕子话未说完，我就从她的眼里滚了出来。风接住了我，带着我环游世界。我已旅行了九天，刚刚落到这片葡萄叶上。真是累死了！我现在什么都不想，就想滚到地上睡一觉。”</a:t>
            </a:r>
          </a:p>
          <a:p>
            <a:pPr algn="l">
              <a:lnSpc>
                <a:spcPct val="100000"/>
              </a:lnSpc>
              <a:spcBef>
                <a:spcPts val="0"/>
              </a:spcBef>
              <a:spcAft>
                <a:spcPts val="500"/>
              </a:spcAft>
            </a:pPr>
            <a:r>
              <a:rPr sz="1500" b="0" i="0">
                <a:solidFill>
                  <a:srgbClr val="000000"/>
                </a:solidFill>
                <a:latin typeface="MS-PGothic"/>
              </a:rPr>
              <a:t>⑪雏燕听痴了。她迅速站起来，张开嘴，吞下母亲那滴昏厥过去的泪水，“谢谢，亲爱的妈妈。”她低声说道，躺到羽毛床上，睡着了。眼泪给了她温暖，她似乎又蜷缩在母亲的翅膀下。
第①段的景物描写有什么作用?</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800" b="1" i="0">
                <a:solidFill>
                  <a:srgbClr val="FF0000"/>
                </a:solidFill>
                <a:latin typeface="SimSun"/>
              </a:rPr>
              <a:t>阅读答题技巧小纸条专题二--记叙文（16）</a:t>
            </a:r>
          </a:p>
          <a:p>
            <a:pPr algn="l">
              <a:lnSpc>
                <a:spcPct val="100000"/>
              </a:lnSpc>
              <a:spcBef>
                <a:spcPts val="0"/>
              </a:spcBef>
              <a:spcAft>
                <a:spcPts val="500"/>
              </a:spcAft>
            </a:pPr>
            <a:r>
              <a:rPr sz="1800" b="1" i="0">
                <a:solidFill>
                  <a:srgbClr val="C55E10"/>
                </a:solidFill>
                <a:latin typeface="SimSun"/>
              </a:rPr>
              <a:t>【4、品析人物题：文中xx 是什么样的人？】</a:t>
            </a:r>
          </a:p>
          <a:p>
            <a:pPr algn="l">
              <a:lnSpc>
                <a:spcPct val="100000"/>
              </a:lnSpc>
              <a:spcBef>
                <a:spcPts val="0"/>
              </a:spcBef>
              <a:spcAft>
                <a:spcPts val="500"/>
              </a:spcAft>
            </a:pPr>
            <a:r>
              <a:rPr sz="1500" b="0" i="0">
                <a:solidFill>
                  <a:srgbClr val="000000"/>
                </a:solidFill>
                <a:latin typeface="SimSun"/>
              </a:rPr>
              <a:t>一、答题模板：xx 是一个xx（性格品质）的人。①通过xx 动作、xx 语言、xx 心理等(他做了xx 事情)，体现了xx 的性格/品质.（分条答题）
①普通人：生活朴实、心地善良、吃苦耐劳、忠于职守、通情达理、平易近人、
②少年：听话懂事、勤奋好学、知错能改、善于观察、勤于思考、关心朋友、聪明能干
③师生：循循善诱、善解人意、无私奉献、因材施教、有耐心、有智慧、懂得鼓励学生
④父母：勤俭持家、关爱孩子、严格要求、教子有方、不溺爱纵容、无微不至、
⑤美德：孝顺感恩、乐于助人、诚实守信、勤俭节约、尊老爱幼、拾金不昧、见义勇为
⑥英雄：忠于革命、英勇无畏、坚贞不屈、视死如归、临危不惧、舍己为人、顾全大局
⑦名人：技艺高超、治学严谨、爱岗敬业、一丝不苟、刻苦钻研、坚持不懈、持之以恒
⑧其他：光明磊落、大公无私、舍己为公、乐观开朗、坚强执着、为他人着想、实事求是热爱祖国、机智勇敢、勤劳能干、体贴关心、镇定自若、沉着冷静、宽容大度、
二、例题：
慈母情深（节选）那是我第一次到母亲为我们挣钱的那个地方。
空间非常低矮，低矮得使人感到压抑。不足二百平方米的厂房，四壁潮湿颓败。七八十台破缝纫机一行行排列着，七八十个都不算年轻的女人忙碌在自己的缝纫机旁。因为光线阴暗，每个女人头上方都吊着一只灯泡。正是酷暑炎夏，窗不能开，七八十个女人的身体和七八十只灯泡所散发的热量，使我感到犹如身在蒸笼。</a:t>
            </a:r>
          </a:p>
          <a:p>
            <a:pPr algn="l">
              <a:lnSpc>
                <a:spcPct val="100000"/>
              </a:lnSpc>
              <a:spcBef>
                <a:spcPts val="0"/>
              </a:spcBef>
              <a:spcAft>
                <a:spcPts val="500"/>
              </a:spcAft>
            </a:pPr>
            <a:r>
              <a:rPr sz="1500" b="0" i="0">
                <a:solidFill>
                  <a:srgbClr val="000000"/>
                </a:solidFill>
                <a:latin typeface="SimSun"/>
              </a:rPr>
              <a:t>我呆呆地将那些女人扫视一遍，却发现不了我的母亲。
七八十台破缝纫机发出的噪声震耳欲聋。
我穿过一排排缝纫机，走到那个角落，看见一个极其瘦弱的毛茸茸的褐色的脊背弯曲着，头凑近在缝纫机板上。周围几只灯泡的电热烤着我的脸。</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000000"/>
                </a:solidFill>
                <a:latin typeface="SimSun"/>
              </a:rPr>
              <a:t>“妈——”“妈——”背直起来了，我的母亲。转过身来了，我的母亲。褐色的口罩上方一双眼神疲竭的眼睛吃惊地望着我，我的母亲的眼睛……</a:t>
            </a:r>
          </a:p>
          <a:p>
            <a:pPr algn="l">
              <a:lnSpc>
                <a:spcPct val="100000"/>
              </a:lnSpc>
              <a:spcBef>
                <a:spcPts val="0"/>
              </a:spcBef>
              <a:spcAft>
                <a:spcPts val="500"/>
              </a:spcAft>
            </a:pPr>
            <a:r>
              <a:rPr sz="1500" b="0" i="0">
                <a:solidFill>
                  <a:srgbClr val="000000"/>
                </a:solidFill>
                <a:latin typeface="SimSun"/>
              </a:rPr>
              <a:t>母亲大声问：“你来干什么？”“我…… ”</a:t>
            </a:r>
          </a:p>
          <a:p>
            <a:pPr algn="l">
              <a:lnSpc>
                <a:spcPct val="100000"/>
              </a:lnSpc>
              <a:spcBef>
                <a:spcPts val="0"/>
              </a:spcBef>
              <a:spcAft>
                <a:spcPts val="500"/>
              </a:spcAft>
            </a:pPr>
            <a:r>
              <a:rPr sz="1500" b="0" i="0">
                <a:solidFill>
                  <a:srgbClr val="000000"/>
                </a:solidFill>
                <a:latin typeface="SimSun"/>
              </a:rPr>
              <a:t>“有事快说，别耽误妈干活！”书哇！……”又对我喊：“你看你妈这是在怎么挣钱？你忍心朝你妈要钱买书哇？……”又对我喊：“你看你妈这是在怎么挣钱？你忍心朝你妈要钱买书哇？……”</a:t>
            </a:r>
          </a:p>
          <a:p>
            <a:pPr algn="l">
              <a:lnSpc>
                <a:spcPct val="100000"/>
              </a:lnSpc>
              <a:spcBef>
                <a:spcPts val="0"/>
              </a:spcBef>
              <a:spcAft>
                <a:spcPts val="500"/>
              </a:spcAft>
            </a:pPr>
            <a:r>
              <a:rPr sz="1500" b="0" i="0">
                <a:solidFill>
                  <a:srgbClr val="000000"/>
                </a:solidFill>
                <a:latin typeface="SimSun"/>
              </a:rPr>
              <a:t>母亲却已将钱塞在我手心里了，大声回答那个女人：“谁叫我们是当妈的啊！我挺高兴他爱看书的！”母亲说完，立刻又坐了下去，立刻又弯曲了背，立刻又将头俯在缝纫机板上了，立刻又陷入手脚并用的机械忙碌状态……</a:t>
            </a:r>
          </a:p>
          <a:p>
            <a:pPr algn="l">
              <a:lnSpc>
                <a:spcPct val="100000"/>
              </a:lnSpc>
              <a:spcBef>
                <a:spcPts val="0"/>
              </a:spcBef>
              <a:spcAft>
                <a:spcPts val="500"/>
              </a:spcAft>
            </a:pPr>
            <a:r>
              <a:rPr sz="1500" b="0" i="0">
                <a:solidFill>
                  <a:srgbClr val="000000"/>
                </a:solidFill>
                <a:latin typeface="SimSun"/>
              </a:rPr>
              <a:t>那一天我第一次发现，母亲原来是那么瘦小！那一天我第一次觉得自己长大了，应该是个大人了。我鼻子一酸，攥着钱跑了出去……那天，我用那一元五角钱给母亲买了一听水果罐头。</a:t>
            </a:r>
          </a:p>
          <a:p>
            <a:pPr algn="l">
              <a:lnSpc>
                <a:spcPct val="100000"/>
              </a:lnSpc>
              <a:spcBef>
                <a:spcPts val="0"/>
              </a:spcBef>
              <a:spcAft>
                <a:spcPts val="500"/>
              </a:spcAft>
            </a:pPr>
            <a:r>
              <a:rPr sz="1500" b="0" i="0">
                <a:solidFill>
                  <a:srgbClr val="000000"/>
                </a:solidFill>
                <a:latin typeface="SimSun"/>
              </a:rPr>
              <a:t>你觉得母亲是一个什么样的人？请结合语言、动作、神态或场景等描写简要说明理由。（4 分）</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000000"/>
                </a:solidFill>
                <a:latin typeface="SimSun"/>
              </a:rPr>
              <a:t>【巩固训练】</a:t>
            </a:r>
          </a:p>
          <a:p>
            <a:pPr algn="l">
              <a:lnSpc>
                <a:spcPct val="100000"/>
              </a:lnSpc>
              <a:spcBef>
                <a:spcPts val="0"/>
              </a:spcBef>
              <a:spcAft>
                <a:spcPts val="500"/>
              </a:spcAft>
            </a:pPr>
            <a:r>
              <a:rPr sz="1500" b="0" i="0">
                <a:solidFill>
                  <a:srgbClr val="000000"/>
                </a:solidFill>
                <a:latin typeface="SimSun"/>
              </a:rPr>
              <a:t>善良是心灵的灯盏
①风中夹杂着雪花，纷纷扬扬，如柳絮般飘落，小小山村，已经变成了粉妆玉砌的世界，显得那么晶莹、那么剔透、那么恬静。下了火车，他下意识地裹紧了棉衣，朝家的方向走去。简陋的家中，有他朝思暮想的妻子，有花骨朵般的女儿，有浓香的羹汤。想到这里，他的嘴角浮起一抹笑意。</a:t>
            </a:r>
          </a:p>
          <a:p>
            <a:pPr algn="l">
              <a:lnSpc>
                <a:spcPct val="100000"/>
              </a:lnSpc>
              <a:spcBef>
                <a:spcPts val="0"/>
              </a:spcBef>
              <a:spcAft>
                <a:spcPts val="500"/>
              </a:spcAft>
            </a:pPr>
            <a:r>
              <a:rPr sz="1500" b="0" i="0">
                <a:solidFill>
                  <a:srgbClr val="000000"/>
                </a:solidFill>
                <a:latin typeface="SimSun"/>
              </a:rPr>
              <a:t>②刚结婚那会儿，家里真的很穷，妻子爱意灼灼的眼神，让他心里升起阵阵暖意，女儿半岁时，他决定跟同乡一起外出打工，苦些累些都不怕，他只想多挣些钱，让她们过上殷实的日子。</a:t>
            </a:r>
          </a:p>
          <a:p>
            <a:pPr algn="l">
              <a:lnSpc>
                <a:spcPct val="100000"/>
              </a:lnSpc>
              <a:spcBef>
                <a:spcPts val="0"/>
              </a:spcBef>
              <a:spcAft>
                <a:spcPts val="500"/>
              </a:spcAft>
            </a:pPr>
            <a:r>
              <a:rPr sz="1500" b="0" i="0">
                <a:solidFill>
                  <a:srgbClr val="000000"/>
                </a:solidFill>
                <a:latin typeface="SimSun"/>
              </a:rPr>
              <a:t>③这两年，他披星戴月地干活，任城市的风尘皲裂了双手。他留下极少的生活费，其余的钱定期寄往家里，为了省下路费，连续两年没有回家。春节临近，思念更加煎熬着他的心，他决定怀揣积攒的血汗钱，回家过个团圆年。</a:t>
            </a:r>
          </a:p>
          <a:p>
            <a:pPr algn="l">
              <a:lnSpc>
                <a:spcPct val="100000"/>
              </a:lnSpc>
              <a:spcBef>
                <a:spcPts val="0"/>
              </a:spcBef>
              <a:spcAft>
                <a:spcPts val="500"/>
              </a:spcAft>
            </a:pPr>
            <a:r>
              <a:rPr sz="1500" b="0" i="0">
                <a:solidFill>
                  <a:srgbClr val="000000"/>
                </a:solidFill>
                <a:latin typeface="SimSun"/>
              </a:rPr>
              <a:t>④走进院落，房门紧锁。妻在信里提到过，家里门锁损坏，临时换了新锁。等了一会，有些着急，心想，干脆到外面走走，给女儿买些零食和玩具。离开家时，她还是襁褓中的小粉团，如今女儿长高了，会喊爸爸了吧?</a:t>
            </a:r>
          </a:p>
          <a:p>
            <a:pPr algn="l">
              <a:lnSpc>
                <a:spcPct val="100000"/>
              </a:lnSpc>
              <a:spcBef>
                <a:spcPts val="0"/>
              </a:spcBef>
              <a:spcAft>
                <a:spcPts val="500"/>
              </a:spcAft>
            </a:pPr>
            <a:r>
              <a:rPr sz="1500" b="0" i="0">
                <a:solidFill>
                  <a:srgbClr val="000000"/>
                </a:solidFill>
                <a:latin typeface="SimSun"/>
              </a:rPr>
              <a:t>⑤他挑了一兜蜜桔，又买了毛绒小熊。转身往回走，路过一家小诊所。诊所门口有个女人，抱着孩子轻轻地晃，急得泪珠直往下</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000000"/>
                </a:solidFill>
                <a:latin typeface="SimSun"/>
              </a:rPr>
              <a:t>落。“怎么办?这可怎么办?”女人像是絮絮自语，又像是在对他诉说。</a:t>
            </a:r>
          </a:p>
          <a:p>
            <a:pPr algn="l">
              <a:lnSpc>
                <a:spcPct val="100000"/>
              </a:lnSpc>
              <a:spcBef>
                <a:spcPts val="0"/>
              </a:spcBef>
              <a:spcAft>
                <a:spcPts val="500"/>
              </a:spcAft>
            </a:pPr>
            <a:r>
              <a:rPr sz="1500" b="0" i="0">
                <a:solidFill>
                  <a:srgbClr val="000000"/>
                </a:solidFill>
                <a:latin typeface="SimSun"/>
              </a:rPr>
              <a:t>⑥他愣了一下，试着问：“怎么回事?”女人叹了口气，说：“孩子发高烧，带的钱不够。你看，烧得有些迷糊，真怕耽误了病情。”他低头一看，小女孩脸色红红的，偎在女人怀里嘤嘤地哭。</a:t>
            </a:r>
          </a:p>
          <a:p>
            <a:pPr algn="l">
              <a:lnSpc>
                <a:spcPct val="100000"/>
              </a:lnSpc>
              <a:spcBef>
                <a:spcPts val="0"/>
              </a:spcBef>
              <a:spcAft>
                <a:spcPts val="500"/>
              </a:spcAft>
            </a:pPr>
            <a:r>
              <a:rPr sz="1500" b="0" i="0">
                <a:solidFill>
                  <a:srgbClr val="000000"/>
                </a:solidFill>
                <a:latin typeface="SimSun"/>
              </a:rPr>
              <a:t>⑦摸了摸衣兜，闪过几分犹豫。他想起在外打工的艰难，每张钱都浸透着汗水。但转念一想，如果对面是自己的家人，面临这样的窘境，他多么希望能有一颗善心，一双温暖的手，帮她们渡过难关。</a:t>
            </a:r>
          </a:p>
          <a:p>
            <a:pPr algn="l">
              <a:lnSpc>
                <a:spcPct val="100000"/>
              </a:lnSpc>
              <a:spcBef>
                <a:spcPts val="0"/>
              </a:spcBef>
              <a:spcAft>
                <a:spcPts val="500"/>
              </a:spcAft>
            </a:pPr>
            <a:r>
              <a:rPr sz="1500" b="0" i="0">
                <a:solidFill>
                  <a:srgbClr val="000000"/>
                </a:solidFill>
                <a:latin typeface="SimSun"/>
              </a:rPr>
              <a:t>⑧他侧过身，从棉衣内兜里摸出钱夹，抽出一张50 元，对女人说：“拿着，给孩子看病要紧。”女人望着衣着简朴、有些木讷的他，眼泪再次夺眶而出。他说：“快点取药去吧，先给孩子挂上针。”</a:t>
            </a:r>
          </a:p>
          <a:p>
            <a:pPr algn="l">
              <a:lnSpc>
                <a:spcPct val="100000"/>
              </a:lnSpc>
              <a:spcBef>
                <a:spcPts val="0"/>
              </a:spcBef>
              <a:spcAft>
                <a:spcPts val="500"/>
              </a:spcAft>
            </a:pPr>
            <a:r>
              <a:rPr sz="1500" b="0" i="0">
                <a:solidFill>
                  <a:srgbClr val="000000"/>
                </a:solidFill>
                <a:latin typeface="SimSun"/>
              </a:rPr>
              <a:t>⑨有些放心不下，他跟在女人后面，陪孩子打了退烧针，又挂上吊瓶，这才舒了口气。到底是孩子，烧刚退下一些，就有了精气神。柔嫩粉红的小脸上，大眼睛闪烁如星，对着他手里的小熊，咯咯地直笑。</a:t>
            </a:r>
          </a:p>
          <a:p>
            <a:pPr algn="l">
              <a:lnSpc>
                <a:spcPct val="100000"/>
              </a:lnSpc>
              <a:spcBef>
                <a:spcPts val="0"/>
              </a:spcBef>
              <a:spcAft>
                <a:spcPts val="500"/>
              </a:spcAft>
            </a:pPr>
            <a:r>
              <a:rPr sz="1500" b="0" i="0">
                <a:solidFill>
                  <a:srgbClr val="000000"/>
                </a:solidFill>
                <a:latin typeface="SimSun"/>
              </a:rPr>
              <a:t>⑩他把小熊递给女孩，说：“你是勇敢的孩子，叔叔奖励你一个小熊。”小女孩接过小熊，宝贝似的搂在怀里，女人低头望着孩子，眼里全是疼爱。看到女孩已无大碍，他转身离开了医院。</a:t>
            </a:r>
          </a:p>
          <a:p>
            <a:pPr algn="l">
              <a:lnSpc>
                <a:spcPct val="100000"/>
              </a:lnSpc>
              <a:spcBef>
                <a:spcPts val="0"/>
              </a:spcBef>
              <a:spcAft>
                <a:spcPts val="500"/>
              </a:spcAft>
            </a:pPr>
            <a:r>
              <a:rPr sz="1500" b="0" i="0">
                <a:solidFill>
                  <a:srgbClr val="000000"/>
                </a:solidFill>
                <a:latin typeface="MS-PGothic"/>
              </a:rPr>
              <a:t>⑪回到家，妻子仍没回来。他倚在门口，又困又累，不知不觉睡着了。不知过了多久，他被轻柔的声音唤醒，揉揉惺忪的眼睛，看到站在眼前的妻子。他咧嘴一笑，笑容突然凝固在脸上。原来，妻子的旁边站着的小女孩，怀里抱着毛绒小熊。</a:t>
            </a:r>
          </a:p>
          <a:p>
            <a:pPr algn="l">
              <a:lnSpc>
                <a:spcPct val="100000"/>
              </a:lnSpc>
              <a:spcBef>
                <a:spcPts val="0"/>
              </a:spcBef>
              <a:spcAft>
                <a:spcPts val="500"/>
              </a:spcAft>
            </a:pPr>
            <a:r>
              <a:rPr sz="1500" b="0" i="0">
                <a:solidFill>
                  <a:srgbClr val="000000"/>
                </a:solidFill>
                <a:latin typeface="MS-PGothic"/>
              </a:rPr>
              <a:t>⑫妻子笑吟吟地说：“女儿今天发起高烧，幸亏幼儿园老师带她看病，现在好多了。”他把女孩揽进怀里，亲了又亲，将几滴热泪蹭到女孩脸上，引得妻子莫名其妙。</a:t>
            </a:r>
          </a:p>
          <a:p>
            <a:pPr algn="l">
              <a:lnSpc>
                <a:spcPct val="100000"/>
              </a:lnSpc>
              <a:spcBef>
                <a:spcPts val="0"/>
              </a:spcBef>
              <a:spcAft>
                <a:spcPts val="500"/>
              </a:spcAft>
            </a:pPr>
            <a:r>
              <a:rPr sz="1500" b="0" i="0">
                <a:solidFill>
                  <a:srgbClr val="000000"/>
                </a:solidFill>
                <a:latin typeface="MS-PGothic"/>
              </a:rPr>
              <a:t>⑬在外打工的日子，他遇到过各色目光，深感自身卑微如草芥。但无论何时何境，他的心里始终亮着“善良”的灯盏。正是这盏灯，让他固守内心的纯净，引领他回到温暖的家园。</a:t>
            </a:r>
          </a:p>
          <a:p>
            <a:pPr algn="l">
              <a:lnSpc>
                <a:spcPct val="100000"/>
              </a:lnSpc>
              <a:spcBef>
                <a:spcPts val="0"/>
              </a:spcBef>
              <a:spcAft>
                <a:spcPts val="500"/>
              </a:spcAft>
            </a:pPr>
            <a:r>
              <a:rPr sz="1500" b="0" i="0">
                <a:solidFill>
                  <a:srgbClr val="000000"/>
                </a:solidFill>
                <a:latin typeface="SimSun"/>
              </a:rPr>
              <a:t>选文中他是一个怎样的人？（3 分）</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000000"/>
                </a:solidFill>
                <a:latin typeface="SimSun"/>
              </a:rPr>
              <a:t>【巩固训练2】
桃叶青青覃旭
①五月的一天，上体育课。体育老师，也是我们的班主任黄老师说“这节课的任务是跑步，你们跑到桃花村，摘一片桃叶回来就可以了。我有事要临时出去一趟，体育委员负责收桃叶。预备———出发！”</a:t>
            </a:r>
          </a:p>
          <a:p>
            <a:pPr algn="l">
              <a:lnSpc>
                <a:spcPct val="100000"/>
              </a:lnSpc>
              <a:spcBef>
                <a:spcPts val="0"/>
              </a:spcBef>
              <a:spcAft>
                <a:spcPts val="500"/>
              </a:spcAft>
            </a:pPr>
            <a:r>
              <a:rPr sz="1500" b="0" i="0">
                <a:solidFill>
                  <a:srgbClr val="000000"/>
                </a:solidFill>
                <a:latin typeface="Calibri"/>
              </a:rPr>
              <a:t>②黄老师发令以后便离开了，全班同学涌出校门，冲向桃花村。
③桃花村离学校约2.5 公里，有乡级公路相通，村头有一大片桃林。春萌是个身材瘦弱的女孩子，同学们个个都比她跑得快，一下子就把她甩在最后。春萌拼了命地跑，还是被大家越甩越远。公路弯弯曲曲，路边长满了高树。没过多久，春萌连同学们的背影都看不到了。她感觉再跑就要断气了，于是停下来慢慢走了一段路。</a:t>
            </a:r>
          </a:p>
          <a:p>
            <a:pPr algn="l">
              <a:lnSpc>
                <a:spcPct val="100000"/>
              </a:lnSpc>
              <a:spcBef>
                <a:spcPts val="0"/>
              </a:spcBef>
              <a:spcAft>
                <a:spcPts val="500"/>
              </a:spcAft>
            </a:pPr>
            <a:r>
              <a:rPr sz="1500" b="0" i="0">
                <a:solidFill>
                  <a:srgbClr val="000000"/>
                </a:solidFill>
                <a:latin typeface="Calibri"/>
              </a:rPr>
              <a:t>④出了一身汗，又没有水喝，她口渴得很。她没有运动鞋，脚上的塑料凉鞋扣子断了，不能穿着跑，她就把鞋子藏在草丛里，做好记号，然后赤着脚继续跑。</a:t>
            </a:r>
          </a:p>
          <a:p>
            <a:pPr algn="l">
              <a:lnSpc>
                <a:spcPct val="100000"/>
              </a:lnSpc>
              <a:spcBef>
                <a:spcPts val="0"/>
              </a:spcBef>
              <a:spcAft>
                <a:spcPts val="500"/>
              </a:spcAft>
            </a:pPr>
            <a:r>
              <a:rPr sz="1500" b="0" i="0">
                <a:solidFill>
                  <a:srgbClr val="000000"/>
                </a:solidFill>
                <a:latin typeface="Calibri"/>
              </a:rPr>
              <a:t>⑤很快，有同学返回了，一路嬉戏打闹，手里拿着青青的桃叶。春萌觉得难堪，故意不看他们，低头吃力地往前跑。
⑥一个个同学迎面擦肩而过，春萌渐渐适应了。她抬起头，调整呼吸和步伐，按最能忍的节奏向终点跑去。终于，春萌离桃林越来越近了。她惊讶地看到，黄老师竟然站在那里。她感到很惭愧，使出吃奶的力气跌跌撞撞地冲刺。她冲到黄老师跟前，刚想对黄老师说抱歉，不料黄老师却庄重地向她鞠了一躬，激动地说：“谢谢！”然后跨上单车，从一条弯曲的小路离开了。</a:t>
            </a:r>
          </a:p>
          <a:p>
            <a:pPr algn="l">
              <a:lnSpc>
                <a:spcPct val="100000"/>
              </a:lnSpc>
              <a:spcBef>
                <a:spcPts val="0"/>
              </a:spcBef>
              <a:spcAft>
                <a:spcPts val="500"/>
              </a:spcAft>
            </a:pPr>
            <a:r>
              <a:rPr sz="1500" b="0" i="0">
                <a:solidFill>
                  <a:srgbClr val="000000"/>
                </a:solidFill>
                <a:latin typeface="Calibri"/>
              </a:rPr>
              <a:t>⑦春萌愕然，但她没有多想，摘了一片最青的桃叶，从原路往回跑，途中没有忘记拿自己的凉鞋。
⑧不久，有个好消息传来：学校获得了一个保送名额，可以保送一名品学兼优的毕业生上师范学校。这个学校的学生都是农民子弟，上了师范学校，就等于跳出“农门”，有了铁饭碗。这是每个学生都梦寐以求的大好事啊！</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000000"/>
                </a:solidFill>
                <a:latin typeface="Calibri"/>
              </a:rPr>
              <a:t>⑨学校让黄老师推荐几个人选，她只推荐了春萌。
⑩大家都觉得很意外。论成绩，春萌虽然不差，但并不是最拔尖的；论德育，没听说她做过什么好人好事。怎么能只推荐她?
⑪成绩一直排在前三名的同学最不服气，回家告诉了父母。他们的家长直接找到校长，校长把家长们带到了黄老师面前。
⑫面对愤愤不平的家长，黄老师平静地说：“我要开一个班会，不到10 分钟，请你们列席。”
⑬在班会上，黄老师问全班学生：“上次长跑，跑到桃花村的同学请举手。”⑭所有的学生都举起了手。⑮黄老师的目光从学生的脸上一一扫过，接着又严肃地说：“请大家听清楚了，我说的是上次跑到桃花村的同学请举手！”⑯有一半多的学生听出老师声音里的异样，你看看我，我看看你，陆续迟疑地把手放下。有一小半的学生仍举着手。黄老师又说：“最后重复一遍，我说的是———坚持跑到终点桃花村的同学，请举手。”</a:t>
            </a:r>
          </a:p>
          <a:p>
            <a:pPr algn="l">
              <a:lnSpc>
                <a:spcPct val="100000"/>
              </a:lnSpc>
              <a:spcBef>
                <a:spcPts val="0"/>
              </a:spcBef>
              <a:spcAft>
                <a:spcPts val="500"/>
              </a:spcAft>
            </a:pPr>
            <a:r>
              <a:rPr sz="1500" b="0" i="0">
                <a:solidFill>
                  <a:srgbClr val="000000"/>
                </a:solidFill>
                <a:latin typeface="Calibri"/>
              </a:rPr>
              <a:t>⑰这一回，除了春萌那纤细的手，所有的手都放下了。
⑱黄老师有些激动地说：“这就是我只推荐春萌的原因。同学们，谁还有意见?现场鸦雀无声，有些学生家长还想说话，被自己的孩子红着脸阻止了。</a:t>
            </a:r>
          </a:p>
          <a:p>
            <a:pPr algn="l">
              <a:lnSpc>
                <a:spcPct val="100000"/>
              </a:lnSpc>
              <a:spcBef>
                <a:spcPts val="0"/>
              </a:spcBef>
              <a:spcAft>
                <a:spcPts val="500"/>
              </a:spcAft>
            </a:pPr>
            <a:r>
              <a:rPr sz="1500" b="0" i="0">
                <a:solidFill>
                  <a:srgbClr val="000000"/>
                </a:solidFill>
                <a:latin typeface="Calibri"/>
              </a:rPr>
              <a:t>⑲原来，在学校到桃花村的中途，有一片密密的松树林，松树林后面有几棵桃树。同学们的桃叶都是从那里摘的。黄老师是骑单车抄小道去桃林等待他们的。春萌想起来了，那天还有返回的同学给她递桃叶来着，还好她没有接受。</a:t>
            </a:r>
          </a:p>
          <a:p>
            <a:pPr algn="l">
              <a:lnSpc>
                <a:spcPct val="100000"/>
              </a:lnSpc>
              <a:spcBef>
                <a:spcPts val="0"/>
              </a:spcBef>
              <a:spcAft>
                <a:spcPts val="500"/>
              </a:spcAft>
            </a:pPr>
            <a:r>
              <a:rPr sz="1500" b="0" i="0">
                <a:solidFill>
                  <a:srgbClr val="000000"/>
                </a:solidFill>
                <a:latin typeface="Calibri"/>
              </a:rPr>
              <a:t>⑳最后，春萌还有一事不解，私下里问黄老师：“黄老师，那天你为什么要鞠躬谢我?”黄老师说：“因为你没让我白等。”面对愤愤不平的家长，黄老师平静地说：“我要开一个班会，不到10 分钟，请你们列席。”</a:t>
            </a:r>
          </a:p>
          <a:p>
            <a:pPr algn="l">
              <a:lnSpc>
                <a:spcPct val="100000"/>
              </a:lnSpc>
              <a:spcBef>
                <a:spcPts val="0"/>
              </a:spcBef>
              <a:spcAft>
                <a:spcPts val="500"/>
              </a:spcAft>
            </a:pPr>
            <a:r>
              <a:rPr sz="1500" b="0" i="0">
                <a:solidFill>
                  <a:srgbClr val="000000"/>
                </a:solidFill>
                <a:latin typeface="SimSun"/>
              </a:rPr>
              <a:t>结合文章内容，春萌是一个怎样的人？（4 分）</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800" b="1" i="0">
                <a:solidFill>
                  <a:srgbClr val="FF0000"/>
                </a:solidFill>
                <a:latin typeface="SimSun"/>
              </a:rPr>
              <a:t>阅读答题技巧小纸条专题二--记叙文（17）</a:t>
            </a:r>
          </a:p>
          <a:p>
            <a:pPr algn="l">
              <a:lnSpc>
                <a:spcPct val="100000"/>
              </a:lnSpc>
              <a:spcBef>
                <a:spcPts val="0"/>
              </a:spcBef>
              <a:spcAft>
                <a:spcPts val="500"/>
              </a:spcAft>
            </a:pPr>
            <a:r>
              <a:rPr sz="1800" b="1" i="0">
                <a:solidFill>
                  <a:srgbClr val="C55E10"/>
                </a:solidFill>
                <a:latin typeface="SimSun"/>
              </a:rPr>
              <a:t>【5、词语含义题：体会加点词语的含义、作用、效果】</a:t>
            </a:r>
          </a:p>
          <a:p>
            <a:pPr algn="l">
              <a:lnSpc>
                <a:spcPct val="100000"/>
              </a:lnSpc>
              <a:spcBef>
                <a:spcPts val="0"/>
              </a:spcBef>
              <a:spcAft>
                <a:spcPts val="500"/>
              </a:spcAft>
            </a:pPr>
            <a:r>
              <a:rPr sz="1500" b="0" i="0">
                <a:solidFill>
                  <a:srgbClr val="000000"/>
                </a:solidFill>
                <a:latin typeface="SimSun"/>
              </a:rPr>
              <a:t>一、答题模板：①xx 词形容xx 的样子，文中指xx。（或一语双关：本义是xx，引申义是指xx）
②这个词语描写（绘）出了xx 的情景（或画面）+抒发了（表现了/表达了）xx 的情感（性格）。
二、例题：
外婆（节选）
⑧那年秋天，我上小学，外婆送给我的礼物是一双鞋垫和一个枕套。鞋垫上绣着一汪泉水，泉边生着一丛水仙，泉水里游着两条鱼儿。我说：“外婆，我的脚泡在水里，会冻坏的。”外婆说：“孩子，泉水冬暖夏凉。冬天，你就想着脚底下有温水流淌；夏天呢，有清凉在脚底下护着你。你走到哪里，鱼就陪你到哪里，有鱼的地方你就不会口渴。”</a:t>
            </a:r>
          </a:p>
          <a:p>
            <a:pPr algn="l">
              <a:lnSpc>
                <a:spcPct val="100000"/>
              </a:lnSpc>
              <a:spcBef>
                <a:spcPts val="0"/>
              </a:spcBef>
              <a:spcAft>
                <a:spcPts val="500"/>
              </a:spcAft>
            </a:pPr>
            <a:r>
              <a:rPr sz="1500" b="0" i="0">
                <a:solidFill>
                  <a:srgbClr val="000000"/>
                </a:solidFill>
                <a:latin typeface="SimSun"/>
              </a:rPr>
              <a:t>⑨枕套上绣着月宫，桂花树下，蹲着一只兔子，它在月宫里，在云端，望着人间，望着我。到夜晚，它就守着我的梦境。外婆用细针密线把天上人间的好东西都收拢来，让它们贴紧我的身体。贴紧我身体的，是外婆密密．．的针线，也是她密密．．的心情。
⑩直到今天，我还保存着我童年时的一双鞋垫。我一针一线临摹着外婆留给我的这件文物。泉，淙淙地涌出来；鱼，轻轻地游过来；水仙，欲开将开着，含着永远的期待。我努力将这份美好贴近身体，默默地感受着针线的温暖，泪水不知何时又溢满了眼眶。</a:t>
            </a:r>
          </a:p>
          <a:p>
            <a:pPr algn="l">
              <a:lnSpc>
                <a:spcPct val="100000"/>
              </a:lnSpc>
              <a:spcBef>
                <a:spcPts val="0"/>
              </a:spcBef>
              <a:spcAft>
                <a:spcPts val="500"/>
              </a:spcAft>
            </a:pPr>
            <a:r>
              <a:rPr sz="1500" b="0" i="0">
                <a:solidFill>
                  <a:srgbClr val="000000"/>
                </a:solidFill>
                <a:latin typeface="SimSun"/>
              </a:rPr>
              <a:t>请赏析第⑨段画波浪线的词语。（4 分）</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000000"/>
                </a:solidFill>
                <a:latin typeface="SimSun"/>
              </a:rPr>
              <a:t>【巩固训练2】
微笑
①田野的草返青时，我的母亲，曾咀嚼着院落白杨树上方的阳光。
②母亲与大地同在，给予我生命，养育我的生命。
③属于收获的季节里，天空蓝得舒缓、高远而淳厚，让人瞄一眼便生出暖意。我从棉田旁走过，云絮飘在田野上方，仿佛才印染的棉桃，倾听着土地的心事。云，会听见我那平凡母亲的微笑吗?</a:t>
            </a:r>
          </a:p>
          <a:p>
            <a:pPr algn="l">
              <a:lnSpc>
                <a:spcPct val="100000"/>
              </a:lnSpc>
              <a:spcBef>
                <a:spcPts val="0"/>
              </a:spcBef>
              <a:spcAft>
                <a:spcPts val="500"/>
              </a:spcAft>
            </a:pPr>
            <a:r>
              <a:rPr sz="1500" b="0" i="0">
                <a:solidFill>
                  <a:srgbClr val="000000"/>
                </a:solidFill>
                <a:latin typeface="SimSun"/>
              </a:rPr>
              <a:t>④我拎了一兜母亲喜欢吃的火柿子回家，乍进门，瞅见床上铺着一条熨好的深蓝色裤子，两侧裤腿上各有一片淡青色的兰叶。我心里一喜，这是母亲新购的衣物吗?母亲可是多年节省惯了，轻易不添置衣服的。待我走近一瞧，却惭愧了，那是几年前由于裤腿刮出小洞被我嫌弃的一条裤子，料子还九成新呢，现在母亲用丝绣的兰叶补好了。</a:t>
            </a:r>
          </a:p>
          <a:p>
            <a:pPr algn="l">
              <a:lnSpc>
                <a:spcPct val="100000"/>
              </a:lnSpc>
              <a:spcBef>
                <a:spcPts val="0"/>
              </a:spcBef>
              <a:spcAft>
                <a:spcPts val="500"/>
              </a:spcAft>
            </a:pPr>
            <a:r>
              <a:rPr sz="1500" b="0" i="0">
                <a:solidFill>
                  <a:srgbClr val="000000"/>
                </a:solidFill>
                <a:latin typeface="SimSun"/>
              </a:rPr>
              <a:t>⑤妈，不是说眼睛不好，咋又做活了?我捧着兰叶子，久久不能放下。母亲一边搅拌着小盆里的鸡蛋韭菜馅，一边说她又拾掇出来了，试试还能穿不。她撩起鬓角新添的白发，那手势是我熟悉的动作。</a:t>
            </a:r>
          </a:p>
          <a:p>
            <a:pPr algn="l">
              <a:lnSpc>
                <a:spcPct val="100000"/>
              </a:lnSpc>
              <a:spcBef>
                <a:spcPts val="0"/>
              </a:spcBef>
              <a:spcAft>
                <a:spcPts val="500"/>
              </a:spcAft>
            </a:pPr>
            <a:r>
              <a:rPr sz="1500" b="0" i="0">
                <a:solidFill>
                  <a:srgbClr val="000000"/>
                </a:solidFill>
                <a:latin typeface="SimSun"/>
              </a:rPr>
              <a:t>⑥我心潮起伏，恍若又回到20 多年前中条山麓下简朴的老屋。冬夜，西北风压低了坚韧的白杨树枝，紧接着卷起大片的雪花，连屋内小台灯的光束也摇撼了。天寒地冻，呵气成冰。母亲将炕烧热，又给我们两个孩子掖好被角，我不知已睡了多久，朦胧醒来，望见东墙上放大的身影里，母亲将一根线拉得极长，便转过身迷迷糊糊地说，妈，还不睡呀?她披件灰旧棉袄抵御深夜的寒气，微笑着将我伸出的手送回被子里，叫我快睡，又扭过头继续一针一线地补衣服。母亲常在一天的奔波忙碌后，为节省开支，趁夜深人静给一家大小缝补衣裳。我的瞳孔深深印下母亲温柔坚韧的笑容，我不止一次望见台灯下，线的细长投影在她劳作了一天的双手上、在冻裂的口子上擦过，岁月牵拽得悠长。</a:t>
            </a:r>
          </a:p>
          <a:p>
            <a:pPr algn="l">
              <a:lnSpc>
                <a:spcPct val="100000"/>
              </a:lnSpc>
              <a:spcBef>
                <a:spcPts val="0"/>
              </a:spcBef>
              <a:spcAft>
                <a:spcPts val="500"/>
              </a:spcAft>
            </a:pPr>
            <a:r>
              <a:rPr sz="1500" b="0" i="0">
                <a:solidFill>
                  <a:srgbClr val="000000"/>
                </a:solidFill>
                <a:latin typeface="SimSun"/>
              </a:rPr>
              <a:t>⑦在那个拮据的年代，全力操持这个家的母亲，灵巧心思一点点渗透到简朴的生活中。堂屋简陋的木头箱子上盖上母亲绣的青山绿水布帘、老椅子铺上凤凰啼花的坐垫、大立柜漆出淡淡的兰草。我小小而充实的幸福，都是她下班后，在储藏大白菜、腌萝卜干准备过冬之余，挤出时间做的。</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800" b="0" i="0">
                <a:solidFill>
                  <a:srgbClr val="000000"/>
                </a:solidFill>
                <a:latin typeface="SimSun"/>
              </a:rPr>
              <a:t>⑧如今，早不用熬夜逮针头线了，但勤劳一生的母亲闲不住了，总要翻拣一件大人的旧衣，架个老花镜，拆改成外孙的衣服。如今，轮到我为母亲添置新衣了。每逢此时，我总不经意地仰望天空，于是看到了千姿百态的云，并相信它们在天涯悄无声息地合拢，好像故乡的棉桃，包裹着我永远难忘的母亲的微笑。</a:t>
            </a:r>
          </a:p>
          <a:p>
            <a:pPr algn="l">
              <a:lnSpc>
                <a:spcPct val="100000"/>
              </a:lnSpc>
              <a:spcBef>
                <a:spcPts val="0"/>
              </a:spcBef>
              <a:spcAft>
                <a:spcPts val="500"/>
              </a:spcAft>
            </a:pPr>
            <a:r>
              <a:rPr sz="1800" b="0" i="0">
                <a:solidFill>
                  <a:srgbClr val="000000"/>
                </a:solidFill>
                <a:latin typeface="SimSun"/>
              </a:rPr>
              <a:t>理解下列句中加点词语在文中的含义。（4 分）（1）我的母亲，曾咀嚼．．着院落白杨树上方的阳光。</a:t>
            </a:r>
          </a:p>
          <a:p>
            <a:pPr algn="l">
              <a:lnSpc>
                <a:spcPct val="100000"/>
              </a:lnSpc>
              <a:spcBef>
                <a:spcPts val="0"/>
              </a:spcBef>
              <a:spcAft>
                <a:spcPts val="500"/>
              </a:spcAft>
            </a:pPr>
            <a:r>
              <a:rPr sz="1800" b="0" i="0">
                <a:solidFill>
                  <a:srgbClr val="000000"/>
                </a:solidFill>
                <a:latin typeface="SimSun"/>
              </a:rPr>
              <a:t>（2）我的瞳孔深深印下母亲温柔坚韧．．．．的笑容。</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800" b="1" i="0">
                <a:solidFill>
                  <a:srgbClr val="FF0000"/>
                </a:solidFill>
                <a:latin typeface="SimSun"/>
              </a:rPr>
              <a:t>阅读答题技巧小纸条专题二--记叙文（18）</a:t>
            </a:r>
          </a:p>
          <a:p>
            <a:pPr algn="l">
              <a:lnSpc>
                <a:spcPct val="100000"/>
              </a:lnSpc>
              <a:spcBef>
                <a:spcPts val="0"/>
              </a:spcBef>
              <a:spcAft>
                <a:spcPts val="500"/>
              </a:spcAft>
            </a:pPr>
            <a:r>
              <a:rPr sz="1800" b="1" i="0">
                <a:solidFill>
                  <a:srgbClr val="C55E10"/>
                </a:solidFill>
                <a:latin typeface="SimSun"/>
              </a:rPr>
              <a:t>【6、文段作用题：第一段在文中、/文章结构上起什么作用？】</a:t>
            </a:r>
          </a:p>
          <a:p>
            <a:pPr algn="l">
              <a:lnSpc>
                <a:spcPct val="100000"/>
              </a:lnSpc>
              <a:spcBef>
                <a:spcPts val="0"/>
              </a:spcBef>
              <a:spcAft>
                <a:spcPts val="500"/>
              </a:spcAft>
            </a:pPr>
            <a:r>
              <a:rPr sz="1500" b="0" i="0">
                <a:solidFill>
                  <a:srgbClr val="000000"/>
                </a:solidFill>
                <a:latin typeface="SimSun"/>
              </a:rPr>
              <a:t>一、答题模板：（内容上+结构上）①开头：统领全文、开篇点文章xx 主旨；埋下伏笔，为后文作铺垫。②中间：承上启下。③结尾：总结全文，呼应前文或题目，深化、升华xx 主题。
二、例题：
没鞋的孩子拼命跳范方启
①那是个以手工为主的年代，穿在脚上的鞋，多半是母亲缝制。我的一个同学，因为他的娘死得早，他差不多是光着脚上学，纵然穿上鞋，那肯定是数九寒冬，脚实在是扛不过去了。他的一双脚，通常是通红的，并且皲裂，露出鲜红的肉。为了抵御寒冷，他所能有的办法就是不停地跳动着，以此增加身体和脚的热量。</a:t>
            </a:r>
          </a:p>
          <a:p>
            <a:pPr algn="l">
              <a:lnSpc>
                <a:spcPct val="100000"/>
              </a:lnSpc>
              <a:spcBef>
                <a:spcPts val="0"/>
              </a:spcBef>
              <a:spcAft>
                <a:spcPts val="500"/>
              </a:spcAft>
            </a:pPr>
            <a:r>
              <a:rPr sz="1500" b="0" i="0">
                <a:solidFill>
                  <a:srgbClr val="000000"/>
                </a:solidFill>
                <a:latin typeface="SimSun"/>
              </a:rPr>
              <a:t>②我们不是没有同情心，看着一双脚在寒风中备受煎熬，自然心中不好受，我们便凑点钱，买上一双布鞋和袜子送给他，他千恩万谢地收下了。再次见面，我们看到的仍然是一双赤脚，便不解地问他为什么不穿。</a:t>
            </a:r>
          </a:p>
          <a:p>
            <a:pPr algn="l">
              <a:lnSpc>
                <a:spcPct val="100000"/>
              </a:lnSpc>
              <a:spcBef>
                <a:spcPts val="0"/>
              </a:spcBef>
              <a:spcAft>
                <a:spcPts val="500"/>
              </a:spcAft>
            </a:pPr>
            <a:r>
              <a:rPr sz="1500" b="0" i="0">
                <a:solidFill>
                  <a:srgbClr val="000000"/>
                </a:solidFill>
                <a:latin typeface="SimSun"/>
              </a:rPr>
              <a:t>③他说，袜子给了比他更小的弟弟，鞋得留着，到过年时穿。为什么一定非得到过年穿不可?过年了，还光着一双脚，这不吉利，穿上鞋，第二年没准会暖和起来的。把好愿留给新年，这旧的一年剩下的日子，他得继续跳着。长期地跳着，他的这双脚一不小心就跳出了几项冠军来：长跑区里第一，跳高、跳远学校第一。这应该是命运给逼出的几个第一，几乎没人羡慕。我们认为他会在这样的几个优势项目中继续努力，争取更多的冠军。出乎我们意料的是，下届的运动会，他一项比赛也没有参加。这让我们的确有些惋惜。</a:t>
            </a:r>
          </a:p>
          <a:p>
            <a:pPr algn="l">
              <a:lnSpc>
                <a:spcPct val="100000"/>
              </a:lnSpc>
              <a:spcBef>
                <a:spcPts val="0"/>
              </a:spcBef>
              <a:spcAft>
                <a:spcPts val="500"/>
              </a:spcAft>
            </a:pPr>
            <a:r>
              <a:rPr sz="1500" b="0" i="0">
                <a:solidFill>
                  <a:srgbClr val="000000"/>
                </a:solidFill>
                <a:latin typeface="SimSun"/>
              </a:rPr>
              <a:t>④令我们始料不及的是，另外的几项冠军却悄无声息地在他的身上脱颖而出。语文年级第一，数学全区第一，外语满分，又一个第一。那年他初三，脚上虽然有一双鞋，有一半的指头不安分地探出脑袋来。颁奖大会上，他依然保持着惯有的姿态，蹦蹦跳跳地上了领奖台，向老师和同学深深鞠躬。那天还是很冷，教他的语文老师百感交集，当即来了一番动情的演说。那语文老师说，几十年的教学生涯中，他眼见了不少没鞋穿的孩子，这些孩子都有一个共同点，不断地跳着，有的越跳越高，跳出了人生的另一种境界，也有的开始在跳，后来不跳了，可能是脚脖子给跳扭了，结果还是在原地不动。话尽管有些深奥，因为有一个活生生的例子，也便不难懂。我们深为感动。那老师躬身问他，是怎样将自己跳出了另外的一个高度的?他说，如果再不跳，只怕要打一辈子的赤脚。</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200" b="0" i="0">
                <a:solidFill>
                  <a:srgbClr val="000000"/>
                </a:solidFill>
                <a:latin typeface="SimSun"/>
              </a:rPr>
              <a:t>⑤脚一直不冷的我，没有想过去跳，结果在人生的道路上，总是跟在别人的后面，一头淹没在人海中。第④段第一句“令我们始料不及的是，另外的几项冠军却悄无声息地在他的身上脱颖而出”在文章的内容和结构两方面起什么作用?</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000000"/>
                </a:solidFill>
                <a:latin typeface="SimSun"/>
              </a:rPr>
              <a:t>【巩固训练】
白老师，你是我的朱砂</a:t>
            </a:r>
          </a:p>
          <a:p>
            <a:pPr algn="l">
              <a:lnSpc>
                <a:spcPct val="100000"/>
              </a:lnSpc>
              <a:spcBef>
                <a:spcPts val="0"/>
              </a:spcBef>
              <a:spcAft>
                <a:spcPts val="500"/>
              </a:spcAft>
            </a:pPr>
            <a:r>
              <a:rPr sz="1500" b="0" i="0">
                <a:solidFill>
                  <a:srgbClr val="000000"/>
                </a:solidFill>
                <a:latin typeface="SimSun"/>
              </a:rPr>
              <a:t>①我一年级的班主任是白玉琴老师。一天上语文课，视频讲解白老师讲《小猫钓鱼》。她把课文念完之后，提问大家谁能复述一遍。这对刚刚上学的我们来说，有难度，课堂里一时静若幽谷。我那时梳着齐眉娃娃头，一缕湿发遮住了眼帘。汗水淋淋的我顺手捋了捋头发，白老师立刻大声说，好啊，毕淑敏愿意来回答这个问题，请起立。A 我魂飞胆颤，当下想以后哪怕是头发把眼珠刺瞎了，也不再捋头发。我恍若慢镜头一样起身，企图拖延时间以想他法。也许因为我动作太慢，白老师在这个当儿另起了主意。她说，毕淑敏站到讲台上来，面向大家复述课文。</a:t>
            </a:r>
          </a:p>
          <a:p>
            <a:pPr algn="l">
              <a:lnSpc>
                <a:spcPct val="100000"/>
              </a:lnSpc>
              <a:spcBef>
                <a:spcPts val="0"/>
              </a:spcBef>
              <a:spcAft>
                <a:spcPts val="500"/>
              </a:spcAft>
            </a:pPr>
            <a:r>
              <a:rPr sz="1500" b="0" i="0">
                <a:solidFill>
                  <a:srgbClr val="000000"/>
                </a:solidFill>
                <a:latin typeface="SimSun"/>
              </a:rPr>
              <a:t>②天啊！没有任何法子对抗，我只好拖着双腿，像老爷爷一样挪向讲台。咬牙切齿痛下决心，以后剃成个秃瓢，永不留发。B 从课桌到讲台的那几步，是我7 年人生中最漫长的荆棘之旅。然而无论怎样蹒跚，总有到了尽头的那一刻，我只好战战兢兢地开始了回答。</a:t>
            </a:r>
          </a:p>
          <a:p>
            <a:pPr algn="l">
              <a:lnSpc>
                <a:spcPct val="100000"/>
              </a:lnSpc>
              <a:spcBef>
                <a:spcPts val="0"/>
              </a:spcBef>
              <a:spcAft>
                <a:spcPts val="500"/>
              </a:spcAft>
            </a:pPr>
            <a:r>
              <a:rPr sz="1500" b="0" i="0">
                <a:solidFill>
                  <a:srgbClr val="000000"/>
                </a:solidFill>
                <a:latin typeface="SimSun"/>
              </a:rPr>
              <a:t>③如何下的课，全然忘却。以上是我开蒙之后记忆最深的一件事。
④开蒙，古时指儿童入书塾接受启蒙教育，现如今泛指儿童开始上学识字。早年的开蒙礼，要由礼官为即将入学的孩子们，在额头点一粒大大的朱砂眼。点眼的具体位置是在鼻根上方印堂的中央，名曰“开智”。象征着这孩子从此脱离了蒙昧的混沌，睁开了天眼。朱砂色艳如血，闪烁着金属般的光泽，美艳无比且触目惊心。之后是孩童学写“人”字、谢师恩、开笔石上练字、初背《三字经》……破蒙如同破晓，人生从此曙光乍现。</a:t>
            </a:r>
          </a:p>
          <a:p>
            <a:pPr algn="l">
              <a:lnSpc>
                <a:spcPct val="100000"/>
              </a:lnSpc>
              <a:spcBef>
                <a:spcPts val="0"/>
              </a:spcBef>
              <a:spcAft>
                <a:spcPts val="500"/>
              </a:spcAft>
            </a:pPr>
            <a:r>
              <a:rPr sz="1500" b="0" i="0">
                <a:solidFill>
                  <a:srgbClr val="000000"/>
                </a:solidFill>
                <a:latin typeface="SimSun"/>
              </a:rPr>
              <a:t>⑤《小猫钓鱼》后，我听白老师对别人说，我从来没有看到过这样好记性的孩子，居然把整篇课文复述得几乎一字不差。几十年后我重回母校，有年轻老师对我说，白校长(白老师已成为校长)至今还会说起当年的你，是多么聪慧……</a:t>
            </a:r>
          </a:p>
          <a:p>
            <a:pPr algn="l">
              <a:lnSpc>
                <a:spcPct val="100000"/>
              </a:lnSpc>
              <a:spcBef>
                <a:spcPts val="0"/>
              </a:spcBef>
              <a:spcAft>
                <a:spcPts val="500"/>
              </a:spcAft>
            </a:pPr>
            <a:r>
              <a:rPr sz="1500" b="0" i="0">
                <a:solidFill>
                  <a:srgbClr val="000000"/>
                </a:solidFill>
                <a:latin typeface="SimSun"/>
              </a:rPr>
              <a:t>⑥时至今日，我常在想，自己并不聪明，那一日的捋发，看似偶然，也许是心中的蠢蠢欲动、跃跃欲试使然。细心的白老师看穿了一个畏惧的女孩乔装打扮后的渴望，她温暖地推动了孩子的尝试。老师的鼓励，让一个不自信的幼童，感觉到了被重视被喜爱的欢欣。这种获取知识的快乐，将伴随终生。</a:t>
            </a:r>
          </a:p>
          <a:p>
            <a:pPr algn="l">
              <a:lnSpc>
                <a:spcPct val="100000"/>
              </a:lnSpc>
              <a:spcBef>
                <a:spcPts val="0"/>
              </a:spcBef>
              <a:spcAft>
                <a:spcPts val="500"/>
              </a:spcAft>
            </a:pPr>
            <a:r>
              <a:rPr sz="1500" b="0" i="0">
                <a:solidFill>
                  <a:srgbClr val="000000"/>
                </a:solidFill>
                <a:latin typeface="SimSun"/>
              </a:rPr>
              <a:t>⑦我上学时没有举行过开蒙礼，白老师就是我的朱砂。</a:t>
            </a:r>
          </a:p>
          <a:p>
            <a:pPr algn="l">
              <a:lnSpc>
                <a:spcPct val="100000"/>
              </a:lnSpc>
              <a:spcBef>
                <a:spcPts val="0"/>
              </a:spcBef>
              <a:spcAft>
                <a:spcPts val="500"/>
              </a:spcAft>
            </a:pPr>
            <a:r>
              <a:rPr sz="1500" b="0" i="0">
                <a:solidFill>
                  <a:srgbClr val="000000"/>
                </a:solidFill>
                <a:latin typeface="SimSun"/>
              </a:rPr>
              <a:t>最后一段在全文中有何作用?（4 分）</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800" b="1" i="0">
                <a:solidFill>
                  <a:srgbClr val="FF0000"/>
                </a:solidFill>
                <a:latin typeface="SimSun"/>
              </a:rPr>
              <a:t>阅读答题技巧小纸条专题二--记叙文（19）</a:t>
            </a:r>
          </a:p>
          <a:p>
            <a:pPr algn="l">
              <a:lnSpc>
                <a:spcPct val="100000"/>
              </a:lnSpc>
              <a:spcBef>
                <a:spcPts val="0"/>
              </a:spcBef>
              <a:spcAft>
                <a:spcPts val="500"/>
              </a:spcAft>
            </a:pPr>
            <a:r>
              <a:rPr sz="1800" b="1" i="0">
                <a:solidFill>
                  <a:srgbClr val="C55E10"/>
                </a:solidFill>
                <a:latin typeface="SimSun"/>
              </a:rPr>
              <a:t>【7、文章主旨题：文章表达了作者什么样的思想感情？】</a:t>
            </a:r>
          </a:p>
          <a:p>
            <a:pPr algn="l">
              <a:lnSpc>
                <a:spcPct val="100000"/>
              </a:lnSpc>
              <a:spcBef>
                <a:spcPts val="0"/>
              </a:spcBef>
              <a:spcAft>
                <a:spcPts val="500"/>
              </a:spcAft>
            </a:pPr>
            <a:r>
              <a:rPr sz="1500" b="0" i="0">
                <a:solidFill>
                  <a:srgbClr val="FF0000"/>
                </a:solidFill>
                <a:latin typeface="SimSun"/>
              </a:rPr>
              <a:t>一、答题模板：①写事：表达作者对这件事情的……情感或从这件事情中获得……的道理启示。</a:t>
            </a:r>
          </a:p>
          <a:p>
            <a:pPr algn="l">
              <a:lnSpc>
                <a:spcPct val="100000"/>
              </a:lnSpc>
              <a:spcBef>
                <a:spcPts val="0"/>
              </a:spcBef>
              <a:spcAft>
                <a:spcPts val="500"/>
              </a:spcAft>
            </a:pPr>
            <a:r>
              <a:rPr sz="1500" b="0" i="0">
                <a:solidFill>
                  <a:srgbClr val="000000"/>
                </a:solidFill>
                <a:latin typeface="SimSun"/>
              </a:rPr>
              <a:t>②写人：表达作者对这个人物……的情感。</a:t>
            </a:r>
          </a:p>
          <a:p>
            <a:pPr algn="l">
              <a:lnSpc>
                <a:spcPct val="100000"/>
              </a:lnSpc>
              <a:spcBef>
                <a:spcPts val="0"/>
              </a:spcBef>
              <a:spcAft>
                <a:spcPts val="500"/>
              </a:spcAft>
            </a:pPr>
            <a:r>
              <a:rPr sz="1500" b="0" i="0">
                <a:solidFill>
                  <a:srgbClr val="FF0000"/>
                </a:solidFill>
                <a:latin typeface="SimSun"/>
              </a:rPr>
              <a:t>二、例题：
清塘荷韵(节选)季羡林
①楼前有清塘数亩。记得三十多年前初搬来时，池塘里好像是有荷花的，我的记忆里还残留着一些绿叶红花的碎影。后来时移事迁，岁月流逝，池塘里却变得“半亩方塘一鉴开，天光云影共徘徊”，再也不见什么荷花了。</a:t>
            </a:r>
          </a:p>
          <a:p>
            <a:pPr algn="l">
              <a:lnSpc>
                <a:spcPct val="100000"/>
              </a:lnSpc>
              <a:spcBef>
                <a:spcPts val="0"/>
              </a:spcBef>
              <a:spcAft>
                <a:spcPts val="500"/>
              </a:spcAft>
            </a:pPr>
            <a:r>
              <a:rPr sz="1500" b="0" i="0">
                <a:solidFill>
                  <a:srgbClr val="000000"/>
                </a:solidFill>
                <a:latin typeface="SimSun"/>
              </a:rPr>
              <a:t>②有人从湖北来，带来了洪湖的几颗莲子，外壳呈黑色，极硬。据说，如果埋在淤泥中，能够千年不烂。因此，我用铁锤在莲子上砸开了一条缝，让莲芽能够破壳而出，不至水远埋在泥中。这都是一些主观的愿望，莲芽能不能长出，都是极大的未知数。反正我总算是尽了人事，把五六颗敲破的莲子投入池塘中，下面就是听天由命了。</a:t>
            </a:r>
          </a:p>
          <a:p>
            <a:pPr algn="l">
              <a:lnSpc>
                <a:spcPct val="100000"/>
              </a:lnSpc>
              <a:spcBef>
                <a:spcPts val="0"/>
              </a:spcBef>
              <a:spcAft>
                <a:spcPts val="500"/>
              </a:spcAft>
            </a:pPr>
            <a:r>
              <a:rPr sz="1500" b="0" i="0">
                <a:solidFill>
                  <a:srgbClr val="000000"/>
                </a:solidFill>
                <a:latin typeface="SimSun"/>
              </a:rPr>
              <a:t>③这样一来，我每天就多了一件工作：到池塘边上去看上几次。心里总是希望，忽然有一天，“”，有翠绿的莲叶长出水面。可是，事与愿违，投下去的第一年，一直到秋凉落叶，水面上也没有出现什么东西。经过了寂寞的冬天，到了第二年，春水盈塘，绿柳垂丝，一片旖旎的风光。可是，我翘盼的水面却仍然没有露出什么荷叶。此时我已经完全灰了心，以为那几颗湖北带来的硬壳莲子，由于人力无法解释的原因，大概不会再有长出荷花的希望了。我的目光无法把荷叶从淤泥中吸出。</a:t>
            </a:r>
          </a:p>
          <a:p>
            <a:pPr algn="l">
              <a:lnSpc>
                <a:spcPct val="100000"/>
              </a:lnSpc>
              <a:spcBef>
                <a:spcPts val="0"/>
              </a:spcBef>
              <a:spcAft>
                <a:spcPts val="500"/>
              </a:spcAft>
            </a:pPr>
            <a:r>
              <a:rPr sz="1500" b="0" i="0">
                <a:solidFill>
                  <a:srgbClr val="000000"/>
                </a:solidFill>
                <a:latin typeface="SimSun"/>
              </a:rPr>
              <a:t>④但是，到了第三年，却忽然出了奇迹。有一天，我忽然发现，在我投莲子的地方长出了几个圆圆的绿叶，虽然颜色极惹人喜爱，但是却细弱单薄，可怜兮兮地平卧在水面上，像水浮莲的叶子一样，而且只长出了五六个叶片。对我来说，这又是一个虽微有希望但究竟仍是令人灰心的一年。</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000000"/>
                </a:solidFill>
                <a:latin typeface="SimSun"/>
              </a:rPr>
              <a:t>⑤真正的奇迹出现在第四年上，严冬一过，池塘里又溢满了春水。到了一般荷花长叶的时候，在去年漂浮的五六个叶片的地方，一夜之间，突然长出了一大片绿叶，而且看来荷花在严冬的冰下并没有停止行动，因为在离开原有五六个叶片的那块基地比较远的池塘中心，也长出了叶片，叶片扩张的速度惊人地快。几天之内，池塘内不小一部分，已经全为绿叶所覆盖。而且原来平卧在水面上的像是水浮莲一样的叶片，不知道是从哪里聚集来了力量，有一些竟然跃出水面，长成了亭亭的荷叶。原来我心中还迟迟疑疑，怕池中长的是水浮莲，而不是真正的荷花。这样一来，我心中的疑云一扫而光：池塘中生长的真正是洪湖莲花的子孙了。我心中狂喜，这几年总算是没有白等。</a:t>
            </a:r>
          </a:p>
          <a:p>
            <a:pPr algn="l">
              <a:lnSpc>
                <a:spcPct val="100000"/>
              </a:lnSpc>
              <a:spcBef>
                <a:spcPts val="0"/>
              </a:spcBef>
              <a:spcAft>
                <a:spcPts val="500"/>
              </a:spcAft>
            </a:pPr>
            <a:r>
              <a:rPr sz="1500" b="0" i="0">
                <a:solidFill>
                  <a:srgbClr val="000000"/>
                </a:solidFill>
                <a:latin typeface="SimSun"/>
              </a:rPr>
              <a:t>⑥天地萌生万物，对包括人在内的动、植物等有生命的东西，总是赋予一种极其惊人的力量，这种力量大到无法抗御。只要你肯费力来观察下，就必然会承认这一点。(选自《季羡林散文精选》，有删改)</a:t>
            </a:r>
          </a:p>
          <a:p>
            <a:pPr algn="l">
              <a:lnSpc>
                <a:spcPct val="100000"/>
              </a:lnSpc>
              <a:spcBef>
                <a:spcPts val="0"/>
              </a:spcBef>
              <a:spcAft>
                <a:spcPts val="500"/>
              </a:spcAft>
            </a:pPr>
            <a:r>
              <a:rPr sz="1500" b="0" i="0">
                <a:solidFill>
                  <a:srgbClr val="000000"/>
                </a:solidFill>
                <a:latin typeface="SimSun"/>
              </a:rPr>
              <a:t>短文第⑥段画线句子提到了“一种极其惊人的力量”，你认为这种力量是什么?联系生活实际，说说自己的理解。</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000000"/>
                </a:solidFill>
                <a:latin typeface="SimSun"/>
              </a:rPr>
              <a:t>【巩固训练】
故乡的元宵
①故乡的元宵是并不热闹的。
②没有狮子、龙灯，没有高跷，没有跑旱船，没有“大头和尚戏柳翠”，没有花担子、茶担子。很多地方兴“闹元宵”，我们那里的元宵却是静静的。</a:t>
            </a:r>
          </a:p>
          <a:p>
            <a:pPr algn="l">
              <a:lnSpc>
                <a:spcPct val="100000"/>
              </a:lnSpc>
              <a:spcBef>
                <a:spcPts val="0"/>
              </a:spcBef>
              <a:spcAft>
                <a:spcPts val="500"/>
              </a:spcAft>
            </a:pPr>
            <a:r>
              <a:rPr sz="1500" b="0" i="0">
                <a:solidFill>
                  <a:srgbClr val="000000"/>
                </a:solidFill>
                <a:latin typeface="SimSun"/>
              </a:rPr>
              <a:t>③街上掷骰子“赶老羊”的赌钱的摊子上没有人。六颗骰子静静地在大碗底卧着。
④草巷口有个吹糖人的。孙猴子舞大刀、老鼠偷油。
⑤北市口有捏面人的。青蛇、白蛇、老渔翁。老渔翁的蓑衣是从药店里买来的夏枯草做的。
⑥到天坛看人拉“天嗡子”——即抖空竹，拉得很响，天嗡子牛似的叫。
⑦到泰山庙看老妈妈烧香。
⑧一天快过去了。
⑨不过元宵要等到晚上，上了灯，才算。我们那里一般不叫元宵，叫灯节。
⑩各屋里的灯都点起来了。大妈(大伯母)屋里是四盏玻璃方灯。二妈屋里是画了红寿字的白明角琉璃灯，还有一张珠子灯。我的继母屋里点的是红琉璃泡子。一屋子灯光，明亮而温柔，显得很吉祥。</a:t>
            </a:r>
          </a:p>
          <a:p>
            <a:pPr algn="l">
              <a:lnSpc>
                <a:spcPct val="100000"/>
              </a:lnSpc>
              <a:spcBef>
                <a:spcPts val="0"/>
              </a:spcBef>
              <a:spcAft>
                <a:spcPts val="500"/>
              </a:spcAft>
            </a:pPr>
            <a:r>
              <a:rPr sz="1500" b="0" i="0">
                <a:solidFill>
                  <a:srgbClr val="000000"/>
                </a:solidFill>
                <a:latin typeface="MS-PGothic"/>
              </a:rPr>
              <a:t>⑪上街去看走马灯。连万顺家的走马灯很大。“乡下人不识走马灯———又来了。”走马灯不过是来回转动的车、马、人(兵)的影子，但也能看它转几圈。后来我自己也动手做了一个，点了蜡烛，看着里面的纸轮一样转了起来，外面的纸屏上一样映出了影子，很欣喜。乾隆和的走马灯并不“走”，只是一个长方的纸箱子，正面白纸上有一些彩色的小人，小人连着一根头发丝，烛火烘热了发丝，小人的手脚会上下动。它虽然不“走”，我们还是叫它走马灯。要不，叫它什么灯呢?这外面的小人是唐僧、孙悟空、猪八戒、沙和尚。整个画面表现的是《西游记》唐僧取经。</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800" b="0" i="0">
                <a:solidFill>
                  <a:srgbClr val="000000"/>
                </a:solidFill>
                <a:latin typeface="MS-PGothic"/>
              </a:rPr>
              <a:t>⑫孩子有自己的灯。兔子灯，绣球灯，马灯……兔子灯大都是自己动手做的。下面安四个轱辘，可以拉着走。兔子灯其实不大像兔子，脸是圆的，眼睛是弯弯的，像人的眼睛，还有两道弯弯的眉毛！绣球灯、马灯都是买的。绣球灯是一个多面的纸扎的球，有一个篾制的架子，架子上有一根竹竿，架子下有两个轱辘，手执竹竿，向前推移，球即不停滚动。马灯是两段，一个马头，一个马屁股，用带子系在身上。西瓜灯、蛤蟆灯、鱼灯，这些手提的灯，是小孩玩的。</a:t>
            </a:r>
          </a:p>
          <a:p>
            <a:pPr algn="l">
              <a:lnSpc>
                <a:spcPct val="100000"/>
              </a:lnSpc>
              <a:spcBef>
                <a:spcPts val="0"/>
              </a:spcBef>
              <a:spcAft>
                <a:spcPts val="500"/>
              </a:spcAft>
            </a:pPr>
            <a:r>
              <a:rPr sz="1800" b="0" i="0">
                <a:solidFill>
                  <a:srgbClr val="000000"/>
                </a:solidFill>
                <a:latin typeface="MS-PGothic"/>
              </a:rPr>
              <a:t>⑬有一个习俗可能是外地所没有的：看围屏。这实际上是照得透亮的连环画。
⑭年过完了，明天十六，所有店铺就“大开门”了。年，就这样过去了。</a:t>
            </a:r>
          </a:p>
          <a:p>
            <a:pPr algn="l">
              <a:lnSpc>
                <a:spcPct val="100000"/>
              </a:lnSpc>
              <a:spcBef>
                <a:spcPts val="0"/>
              </a:spcBef>
              <a:spcAft>
                <a:spcPts val="500"/>
              </a:spcAft>
            </a:pPr>
            <a:r>
              <a:rPr sz="1800" b="0" i="0">
                <a:solidFill>
                  <a:srgbClr val="000000"/>
                </a:solidFill>
                <a:latin typeface="SimSun"/>
              </a:rPr>
              <a:t>结尾句“年，就这样过去了”，意蕴丰富。请你体会一下，其中包含了作者的哪些情感?（5 分）</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3733799"/>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800" b="1" i="0">
                <a:solidFill>
                  <a:srgbClr val="FF0000"/>
                </a:solidFill>
                <a:latin typeface="SimSun"/>
              </a:rPr>
              <a:t>阅读答题技巧小纸条专题三--非连续性文本（1）</a:t>
            </a:r>
          </a:p>
          <a:p>
            <a:pPr algn="l">
              <a:lnSpc>
                <a:spcPct val="100000"/>
              </a:lnSpc>
              <a:spcBef>
                <a:spcPts val="0"/>
              </a:spcBef>
              <a:spcAft>
                <a:spcPts val="500"/>
              </a:spcAft>
            </a:pPr>
            <a:r>
              <a:rPr sz="1800" b="1" i="0">
                <a:solidFill>
                  <a:srgbClr val="C55E10"/>
                </a:solidFill>
                <a:latin typeface="SimSun"/>
              </a:rPr>
              <a:t>【图表占位：请参照原 PDF 图表】</a:t>
            </a:r>
          </a:p>
          <a:p>
            <a:pPr algn="l">
              <a:lnSpc>
                <a:spcPct val="100000"/>
              </a:lnSpc>
              <a:spcBef>
                <a:spcPts val="0"/>
              </a:spcBef>
              <a:spcAft>
                <a:spcPts val="500"/>
              </a:spcAft>
            </a:pPr>
            <a:r>
              <a:rPr sz="1500" b="0" i="0">
                <a:solidFill>
                  <a:srgbClr val="FF0000"/>
                </a:solidFill>
                <a:latin typeface="SimSun"/>
              </a:rPr>
              <a:t>三、例题：【材料一】聚会时离不开数字终端，一个人时更是如此。如今在地铁、公交车里的上班族，
几乎个个都作“低头看屏幕”状，有的看手机，有的掏出平板电脑或笔记本电脑上网、玩游戏、看视频。这部分人群被称为“低头族”。如今，“低头”早已不是一种现象，已然成为一种生活状态。</a:t>
            </a:r>
          </a:p>
          <a:p>
            <a:pPr algn="l">
              <a:lnSpc>
                <a:spcPct val="100000"/>
              </a:lnSpc>
              <a:spcBef>
                <a:spcPts val="0"/>
              </a:spcBef>
              <a:spcAft>
                <a:spcPts val="500"/>
              </a:spcAft>
            </a:pPr>
            <a:r>
              <a:rPr sz="1500" b="0" i="0">
                <a:solidFill>
                  <a:srgbClr val="000000"/>
                </a:solidFill>
                <a:latin typeface="SimSun"/>
              </a:rPr>
              <a:t>【材料二】快节奏生活、大城市通勤路线拉长，令属于自己的“整块”时间越来越少。一个人
“行动”的机会增多，导致不少人只能抓紧碎片时间，还过数字终端进行娱乐休闲，以智能手机为代表的数字终端提供了丰富的应用程序，让生活变得更加便利和多彩，智能手机已成为低头族打发碎片时间的不可或缺的工具。</a:t>
            </a:r>
          </a:p>
          <a:p>
            <a:pPr algn="l">
              <a:lnSpc>
                <a:spcPct val="100000"/>
              </a:lnSpc>
              <a:spcBef>
                <a:spcPts val="0"/>
              </a:spcBef>
              <a:spcAft>
                <a:spcPts val="500"/>
              </a:spcAft>
            </a:pPr>
            <a:r>
              <a:rPr sz="1500" b="0" i="0">
                <a:solidFill>
                  <a:srgbClr val="000000"/>
                </a:solidFill>
                <a:latin typeface="SimSun"/>
              </a:rPr>
              <a:t>请简要概括你从材料一、材料二中所获取的信息。</a:t>
            </a:r>
          </a:p>
          <a:p>
            <a:pPr algn="l">
              <a:lnSpc>
                <a:spcPct val="100000"/>
              </a:lnSpc>
              <a:spcBef>
                <a:spcPts val="0"/>
              </a:spcBef>
              <a:spcAft>
                <a:spcPts val="500"/>
              </a:spcAft>
            </a:pPr>
            <a:r>
              <a:rPr sz="1500" b="0" i="0">
                <a:solidFill>
                  <a:srgbClr val="000000"/>
                </a:solidFill>
                <a:latin typeface="SimSun"/>
              </a:rPr>
              <a:t>【图表占位：请参照原 PDF 图表】</a:t>
            </a:r>
          </a:p>
          <a:p>
            <a:pPr algn="l">
              <a:lnSpc>
                <a:spcPct val="100000"/>
              </a:lnSpc>
              <a:spcBef>
                <a:spcPts val="0"/>
              </a:spcBef>
              <a:spcAft>
                <a:spcPts val="500"/>
              </a:spcAft>
            </a:pPr>
            <a:r>
              <a:rPr sz="1800" b="1" i="0">
                <a:solidFill>
                  <a:srgbClr val="FF0000"/>
                </a:solidFill>
                <a:latin typeface="SimSun"/>
              </a:rPr>
              <a:t>阅读答题技巧小纸条专题三--非连续性文本（2）</a:t>
            </a:r>
          </a:p>
          <a:p>
            <a:pPr algn="l">
              <a:lnSpc>
                <a:spcPct val="100000"/>
              </a:lnSpc>
              <a:spcBef>
                <a:spcPts val="0"/>
              </a:spcBef>
              <a:spcAft>
                <a:spcPts val="500"/>
              </a:spcAft>
            </a:pPr>
            <a:r>
              <a:rPr sz="1800" b="1" i="0">
                <a:solidFill>
                  <a:srgbClr val="C55E10"/>
                </a:solidFill>
                <a:latin typeface="SimSun"/>
              </a:rPr>
              <a:t>【图表占位：请参照原 PDF 图表】</a:t>
            </a:r>
          </a:p>
          <a:p>
            <a:pPr algn="l">
              <a:lnSpc>
                <a:spcPct val="100000"/>
              </a:lnSpc>
              <a:spcBef>
                <a:spcPts val="0"/>
              </a:spcBef>
              <a:spcAft>
                <a:spcPts val="500"/>
              </a:spcAft>
            </a:pPr>
            <a:r>
              <a:rPr sz="1500" b="0" i="0">
                <a:solidFill>
                  <a:srgbClr val="000000"/>
                </a:solidFill>
                <a:latin typeface="SimSun"/>
              </a:rPr>
              <a:t>【图表占位：请参照原 PDF 图表】</a:t>
            </a:r>
          </a:p>
          <a:p>
            <a:pPr algn="l">
              <a:lnSpc>
                <a:spcPct val="100000"/>
              </a:lnSpc>
              <a:spcBef>
                <a:spcPts val="0"/>
              </a:spcBef>
              <a:spcAft>
                <a:spcPts val="500"/>
              </a:spcAft>
            </a:pPr>
            <a:r>
              <a:rPr sz="1800" b="1" i="0">
                <a:solidFill>
                  <a:srgbClr val="FF0000"/>
                </a:solidFill>
                <a:latin typeface="SimSun"/>
              </a:rPr>
              <a:t>阅读答题技巧小纸条专题三--非连续性文本（3）</a:t>
            </a:r>
          </a:p>
        </p:txBody>
      </p:sp>
      <p:pic>
        <p:nvPicPr>
          <p:cNvPr id="3" name="Picture 2" descr="image.jpg"/>
          <p:cNvPicPr>
            <a:picLocks noChangeAspect="1"/>
          </p:cNvPicPr>
          <p:nvPr/>
        </p:nvPicPr>
        <p:blipFill>
          <a:blip r:embed="rId2"/>
          <a:stretch>
            <a:fillRect/>
          </a:stretch>
        </p:blipFill>
        <p:spPr>
          <a:xfrm>
            <a:off x="3515426" y="4307840"/>
            <a:ext cx="5161147" cy="219456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3733799"/>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1" i="0">
                <a:solidFill>
                  <a:srgbClr val="C55E10"/>
                </a:solidFill>
                <a:latin typeface="SimSun"/>
              </a:rPr>
              <a:t>【3、提出建议题】
一、答题思路：①联系现实和生活规律，发现不同材料提示的现象、规律、哲理等，提出合理建议。
②分点作答。
二、例题：【材料一】聚会时离不开数字终端，一个人时更是如此。如今在地铁、公交车里的上班族，几乎个个都作“低头看屏幕”状，有的看手机，有的掏出平板电脑或笔记本电脑上网、玩游戏、看视频。这部分人群被称为“低头族”。如今，“低头”早已不是一种现象，已然成为一种生活状态。
【材料二】快节奏生活、大城市通勤路线拉长，令属于自己的“整块”时间越来越少。一个人“行动”的机会增多，导致不少人只能抓紧碎片时间，还过数字终端进行娱乐休闲，以智能手机为代表的数字终端提供了丰富的应用程序，让生活变得更加便利和多彩，智能手机已成为低头族打发碎片时间的不可或缺的工具。
【材料三】经常查看手机，一旦发现没有信息更新等情况就会失去某种存在感，甚至造成精神上、情感上的缺失。同时，长时间接触手机、电视及电脑，脑部过度刺激，会导致注意力不集中，从而降低学习和工作的效率，更使自身视力不断下降，甚至由于长时间接收手机等带来的辐射，进一步降低自身免疫力。
【材料四】由于手机社交成为一种习惯，许多年轻人不知如何更得体地与人面对面交流，尤其是在家人面前。据《半岛都市报》报道，
青岛张先生一家人聚餐时，孙子孙女只顾玩手机而冷落了家里的老人，惹得老人愤而摔盘离席。</a:t>
            </a:r>
          </a:p>
          <a:p>
            <a:pPr algn="l">
              <a:lnSpc>
                <a:spcPct val="100000"/>
              </a:lnSpc>
              <a:spcBef>
                <a:spcPts val="0"/>
              </a:spcBef>
              <a:spcAft>
                <a:spcPts val="500"/>
              </a:spcAft>
            </a:pPr>
            <a:r>
              <a:rPr sz="1500" b="0" i="0">
                <a:solidFill>
                  <a:srgbClr val="000000"/>
                </a:solidFill>
                <a:latin typeface="SimSun"/>
              </a:rPr>
              <a:t>你身边一定也有对手机等电子产品依赖性很强的人，请联系生活实际，提出合理化的建议，帮助他们摆脱困扰。</a:t>
            </a:r>
          </a:p>
          <a:p>
            <a:pPr algn="l">
              <a:lnSpc>
                <a:spcPct val="100000"/>
              </a:lnSpc>
              <a:spcBef>
                <a:spcPts val="0"/>
              </a:spcBef>
              <a:spcAft>
                <a:spcPts val="500"/>
              </a:spcAft>
            </a:pPr>
            <a:r>
              <a:rPr sz="1500" b="0" i="0">
                <a:solidFill>
                  <a:srgbClr val="000000"/>
                </a:solidFill>
                <a:latin typeface="SimSun"/>
              </a:rPr>
              <a:t>（至少3 点）</a:t>
            </a:r>
          </a:p>
        </p:txBody>
      </p:sp>
      <p:pic>
        <p:nvPicPr>
          <p:cNvPr id="3" name="Picture 2" descr="image.jpg"/>
          <p:cNvPicPr>
            <a:picLocks noChangeAspect="1"/>
          </p:cNvPicPr>
          <p:nvPr/>
        </p:nvPicPr>
        <p:blipFill>
          <a:blip r:embed="rId2"/>
          <a:stretch>
            <a:fillRect/>
          </a:stretch>
        </p:blipFill>
        <p:spPr>
          <a:xfrm>
            <a:off x="5087388" y="4307840"/>
            <a:ext cx="2017221" cy="219456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200" b="0" i="0">
                <a:solidFill>
                  <a:srgbClr val="000000"/>
                </a:solidFill>
                <a:latin typeface="SimSun"/>
              </a:rPr>
              <a:t>【巩固训练】</a:t>
            </a:r>
          </a:p>
          <a:p>
            <a:pPr algn="l">
              <a:lnSpc>
                <a:spcPct val="100000"/>
              </a:lnSpc>
              <a:spcBef>
                <a:spcPts val="0"/>
              </a:spcBef>
              <a:spcAft>
                <a:spcPts val="500"/>
              </a:spcAft>
            </a:pPr>
            <a:r>
              <a:rPr sz="2200" b="0" i="0">
                <a:solidFill>
                  <a:srgbClr val="000000"/>
                </a:solidFill>
                <a:latin typeface="SimSun"/>
              </a:rPr>
              <a:t>李敏从《江城晚报》上看到这样一则新闻：</a:t>
            </a:r>
          </a:p>
          <a:p>
            <a:pPr algn="l">
              <a:lnSpc>
                <a:spcPct val="100000"/>
              </a:lnSpc>
              <a:spcBef>
                <a:spcPts val="0"/>
              </a:spcBef>
              <a:spcAft>
                <a:spcPts val="500"/>
              </a:spcAft>
            </a:pPr>
            <a:r>
              <a:rPr sz="2200" b="0" i="0">
                <a:solidFill>
                  <a:srgbClr val="000000"/>
                </a:solidFill>
                <a:latin typeface="SimSun"/>
              </a:rPr>
              <a:t>【图表占位：请参照原 PDF 图表】</a:t>
            </a:r>
          </a:p>
          <a:p>
            <a:pPr algn="l">
              <a:lnSpc>
                <a:spcPct val="100000"/>
              </a:lnSpc>
              <a:spcBef>
                <a:spcPts val="0"/>
              </a:spcBef>
              <a:spcAft>
                <a:spcPts val="500"/>
              </a:spcAft>
            </a:pPr>
            <a:r>
              <a:rPr sz="2500" b="1" i="0">
                <a:solidFill>
                  <a:srgbClr val="FF0000"/>
                </a:solidFill>
                <a:latin typeface="SimSun"/>
              </a:rPr>
              <a:t>阅读答题技巧小纸条专题三--非连续性文本（4）</a:t>
            </a:r>
          </a:p>
          <a:p>
            <a:pPr algn="l">
              <a:lnSpc>
                <a:spcPct val="100000"/>
              </a:lnSpc>
              <a:spcBef>
                <a:spcPts val="0"/>
              </a:spcBef>
              <a:spcAft>
                <a:spcPts val="500"/>
              </a:spcAft>
            </a:pPr>
            <a:r>
              <a:rPr sz="2500" b="1" i="0">
                <a:solidFill>
                  <a:srgbClr val="C55E10"/>
                </a:solidFill>
                <a:latin typeface="SimSun"/>
              </a:rPr>
              <a:t>【图表占位：请参照原 PDF 图表】</a:t>
            </a:r>
          </a:p>
          <a:p>
            <a:pPr algn="l">
              <a:lnSpc>
                <a:spcPct val="100000"/>
              </a:lnSpc>
              <a:spcBef>
                <a:spcPts val="0"/>
              </a:spcBef>
              <a:spcAft>
                <a:spcPts val="500"/>
              </a:spcAft>
            </a:pPr>
            <a:r>
              <a:rPr sz="2200" b="0" i="0">
                <a:solidFill>
                  <a:srgbClr val="000000"/>
                </a:solidFill>
                <a:latin typeface="SimSun"/>
              </a:rPr>
              <a:t>(3)材料二中介绍的理财方式中，你最喜欢哪一种?为什么?</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000000"/>
                </a:solidFill>
                <a:latin typeface="SimSun"/>
              </a:rPr>
              <a:t>【巩固训练】【材料一】</a:t>
            </a:r>
          </a:p>
          <a:p>
            <a:pPr algn="l">
              <a:lnSpc>
                <a:spcPct val="100000"/>
              </a:lnSpc>
              <a:spcBef>
                <a:spcPts val="0"/>
              </a:spcBef>
              <a:spcAft>
                <a:spcPts val="500"/>
              </a:spcAft>
            </a:pPr>
            <a:r>
              <a:rPr sz="1500" b="0" i="0">
                <a:solidFill>
                  <a:srgbClr val="000000"/>
                </a:solidFill>
                <a:latin typeface="SimSun"/>
              </a:rPr>
              <a:t>【图表占位：请参照原 PDF 图表】</a:t>
            </a:r>
          </a:p>
          <a:p>
            <a:pPr algn="l">
              <a:lnSpc>
                <a:spcPct val="100000"/>
              </a:lnSpc>
              <a:spcBef>
                <a:spcPts val="0"/>
              </a:spcBef>
              <a:spcAft>
                <a:spcPts val="500"/>
              </a:spcAft>
            </a:pPr>
            <a:r>
              <a:rPr sz="1800" b="1" i="0">
                <a:solidFill>
                  <a:srgbClr val="FF0000"/>
                </a:solidFill>
                <a:latin typeface="SimSun"/>
              </a:rPr>
              <a:t>阅读答题技巧小纸条专题三--非连续性文本（5）</a:t>
            </a:r>
          </a:p>
          <a:p>
            <a:pPr algn="l">
              <a:lnSpc>
                <a:spcPct val="100000"/>
              </a:lnSpc>
              <a:spcBef>
                <a:spcPts val="0"/>
              </a:spcBef>
              <a:spcAft>
                <a:spcPts val="500"/>
              </a:spcAft>
            </a:pPr>
            <a:r>
              <a:rPr sz="1500" b="1" i="0">
                <a:solidFill>
                  <a:srgbClr val="C55E10"/>
                </a:solidFill>
                <a:latin typeface="SimSun"/>
              </a:rPr>
              <a:t>【5、材料类非连续性文本阅读】
一、答题思路：
①如果几则材料共同讲述一个主题，那在探究材料之间的共性的同时，更应探究它们的个性。
②有些材料看似讲述不同的主题，其实只是形式不同而实质是相同的，对于这样的材料，我们可以进行分析比较，找出它们的共性。
③通过同中求异、异中求同，找出材料的内在联系或变化规律，从而发现规律，得出结论。
④对于解答材料的整合与探究类题目，一定要认真研读几则材料内容，找到几则材料关注的共性问题，加以整合，尝试着从中筛选、概括出一条最主要的信息。</a:t>
            </a:r>
          </a:p>
          <a:p>
            <a:pPr algn="l">
              <a:lnSpc>
                <a:spcPct val="100000"/>
              </a:lnSpc>
              <a:spcBef>
                <a:spcPts val="0"/>
              </a:spcBef>
              <a:spcAft>
                <a:spcPts val="500"/>
              </a:spcAft>
            </a:pPr>
            <a:r>
              <a:rPr sz="1500" b="0" i="0">
                <a:solidFill>
                  <a:srgbClr val="FF0000"/>
                </a:solidFill>
                <a:latin typeface="SimSun"/>
              </a:rPr>
              <a:t>二、例题：阅读下列材料，完成练习。
【材料一】空间站又称太空站、航天站。空间站体积比较大，结构复杂，在轨道飞行时间较长，有多种功能，能开展的太空科研项目也多而广。中国空间站包括核心舱，一、二号实验舱，载人飞船和货运飞船。各飞行器既具备独立的飞行能力，又可以与核心舱组合成多种形态的空间组合体，在核心舱统一调度下协同工作，完成空间站承担的各项任务。</a:t>
            </a:r>
          </a:p>
          <a:p>
            <a:pPr algn="l">
              <a:lnSpc>
                <a:spcPct val="100000"/>
              </a:lnSpc>
              <a:spcBef>
                <a:spcPts val="0"/>
              </a:spcBef>
              <a:spcAft>
                <a:spcPts val="500"/>
              </a:spcAft>
            </a:pPr>
            <a:r>
              <a:rPr sz="1500" b="0" i="0">
                <a:solidFill>
                  <a:srgbClr val="000000"/>
                </a:solidFill>
                <a:latin typeface="SimSun"/>
              </a:rPr>
              <a:t>【材料二】“天和”是空间站“天宫”的核心舱，好比大树的树干；其他的舱段都会安装在“树干”的接口上，如同大树的根、枝、叶，不断向外延伸。天和核心舱是未来航天人员生活与工作的空间，非常大，比火车车厢还要宽，约有50 立方米。密封舱内配置有工作区、睡眠区、卫生区、就餐区、医监医保区及锻炼区，能够为航天员提供舒适良好的保障条件。
【材料三】到2024 年国际空间站退役时，中国可能
．．成为全球唯一拥有空间站的国家。届时，中国空间站将为全球科学家提供科学研究和实验机会，满足最新最好的空间探索及空间资源利用等科研需要，使中国载人航天发展进入崭新的阶段。</a:t>
            </a:r>
          </a:p>
          <a:p>
            <a:pPr algn="l">
              <a:lnSpc>
                <a:spcPct val="100000"/>
              </a:lnSpc>
              <a:spcBef>
                <a:spcPts val="0"/>
              </a:spcBef>
              <a:spcAft>
                <a:spcPts val="500"/>
              </a:spcAft>
            </a:pPr>
            <a:r>
              <a:rPr sz="1500" b="0" i="0">
                <a:solidFill>
                  <a:srgbClr val="000000"/>
                </a:solidFill>
                <a:latin typeface="SimSun"/>
              </a:rPr>
              <a:t>(1)中国空间站由四部分组成，分别是：
，一、二号实验舱，和。</a:t>
            </a:r>
          </a:p>
          <a:p>
            <a:pPr algn="l">
              <a:lnSpc>
                <a:spcPct val="100000"/>
              </a:lnSpc>
              <a:spcBef>
                <a:spcPts val="0"/>
              </a:spcBef>
              <a:spcAft>
                <a:spcPts val="500"/>
              </a:spcAft>
            </a:pPr>
            <a:r>
              <a:rPr sz="1500" b="0" i="0">
                <a:solidFill>
                  <a:srgbClr val="000000"/>
                </a:solidFill>
                <a:latin typeface="SimSun"/>
              </a:rPr>
              <a:t>(2)判断下面说法的对错，对的画“✔”，错的画“×”。</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000000"/>
                </a:solidFill>
                <a:latin typeface="SimSun"/>
              </a:rPr>
              <a:t>①空间站具有体积小、结构复杂的特点。
()</a:t>
            </a:r>
          </a:p>
          <a:p>
            <a:pPr algn="l">
              <a:lnSpc>
                <a:spcPct val="100000"/>
              </a:lnSpc>
              <a:spcBef>
                <a:spcPts val="0"/>
              </a:spcBef>
              <a:spcAft>
                <a:spcPts val="500"/>
              </a:spcAft>
            </a:pPr>
            <a:r>
              <a:rPr sz="1500" b="0" i="0">
                <a:solidFill>
                  <a:srgbClr val="000000"/>
                </a:solidFill>
                <a:latin typeface="SimSun"/>
              </a:rPr>
              <a:t>②天和核心舱能为航天员提供舒适的生活与工作环境。
()</a:t>
            </a:r>
          </a:p>
          <a:p>
            <a:pPr algn="l">
              <a:lnSpc>
                <a:spcPct val="100000"/>
              </a:lnSpc>
              <a:spcBef>
                <a:spcPts val="0"/>
              </a:spcBef>
              <a:spcAft>
                <a:spcPts val="500"/>
              </a:spcAft>
            </a:pPr>
            <a:r>
              <a:rPr sz="1500" b="0" i="0">
                <a:solidFill>
                  <a:srgbClr val="000000"/>
                </a:solidFill>
                <a:latin typeface="SimSun"/>
              </a:rPr>
              <a:t>③空间站的核心舱可以控制实验舱、货运飞船。
()</a:t>
            </a:r>
          </a:p>
          <a:p>
            <a:pPr algn="l">
              <a:lnSpc>
                <a:spcPct val="100000"/>
              </a:lnSpc>
              <a:spcBef>
                <a:spcPts val="0"/>
              </a:spcBef>
              <a:spcAft>
                <a:spcPts val="500"/>
              </a:spcAft>
            </a:pPr>
            <a:r>
              <a:rPr sz="1500" b="0" i="0">
                <a:solidFill>
                  <a:srgbClr val="000000"/>
                </a:solidFill>
                <a:latin typeface="SimSun"/>
              </a:rPr>
              <a:t>(3)材料三中加点的词语“可能”是否可以删掉?为什么?</a:t>
            </a:r>
          </a:p>
          <a:p>
            <a:pPr algn="l">
              <a:lnSpc>
                <a:spcPct val="100000"/>
              </a:lnSpc>
              <a:spcBef>
                <a:spcPts val="0"/>
              </a:spcBef>
              <a:spcAft>
                <a:spcPts val="500"/>
              </a:spcAft>
            </a:pPr>
            <a:r>
              <a:rPr sz="1500" b="0" i="0">
                <a:solidFill>
                  <a:srgbClr val="000000"/>
                </a:solidFill>
                <a:latin typeface="SimSun"/>
              </a:rPr>
              <a:t>(4)你觉得科学家将来可能利用中国空间站进行哪些探索和研究?请展开想象写一写。</a:t>
            </a:r>
          </a:p>
          <a:p>
            <a:pPr algn="l">
              <a:lnSpc>
                <a:spcPct val="100000"/>
              </a:lnSpc>
              <a:spcBef>
                <a:spcPts val="0"/>
              </a:spcBef>
              <a:spcAft>
                <a:spcPts val="500"/>
              </a:spcAft>
            </a:pPr>
            <a:r>
              <a:rPr sz="1500" b="0" i="0">
                <a:solidFill>
                  <a:srgbClr val="000000"/>
                </a:solidFill>
                <a:latin typeface="SimSun"/>
              </a:rPr>
              <a:t>【巩固训练】阅读下面两则材料，完成练习。
【材料一】</a:t>
            </a:r>
          </a:p>
          <a:p>
            <a:pPr algn="l">
              <a:lnSpc>
                <a:spcPct val="100000"/>
              </a:lnSpc>
              <a:spcBef>
                <a:spcPts val="0"/>
              </a:spcBef>
              <a:spcAft>
                <a:spcPts val="500"/>
              </a:spcAft>
            </a:pPr>
            <a:r>
              <a:rPr sz="1500" b="0" i="0">
                <a:solidFill>
                  <a:srgbClr val="000000"/>
                </a:solidFill>
                <a:latin typeface="SimSun"/>
              </a:rPr>
              <a:t>“世界上没有垃圾，只有放错地方的宝藏。”回收可利用的垃圾是许多国家的共同选择。目前，生活垃圾可按可回收物、厨余垃圾、有害垃圾、其他垃圾分四类，并设置对应的蓝色、绿色、红色、灰色垃圾桶。垃圾分类是每个人的事情。我们要从自身做好。
【材料二】</a:t>
            </a:r>
          </a:p>
          <a:p>
            <a:pPr algn="l">
              <a:lnSpc>
                <a:spcPct val="100000"/>
              </a:lnSpc>
              <a:spcBef>
                <a:spcPts val="0"/>
              </a:spcBef>
              <a:spcAft>
                <a:spcPts val="500"/>
              </a:spcAft>
            </a:pPr>
            <a:r>
              <a:rPr sz="1500" b="0" i="0">
                <a:solidFill>
                  <a:srgbClr val="000000"/>
                </a:solidFill>
                <a:latin typeface="SimSun"/>
              </a:rPr>
              <a:t>随着我国城镇化进程的加快以及人民生活水平的提高，生活垃圾的总量也在不断加大，部分城市在市郊堆放垃圾，对大气、土壤、水资源造成污染。大量垃圾混合在一起填埋或焚烧，产生有害物质，威胁着居民的健康。</a:t>
            </a:r>
          </a:p>
          <a:p>
            <a:pPr algn="l">
              <a:lnSpc>
                <a:spcPct val="100000"/>
              </a:lnSpc>
              <a:spcBef>
                <a:spcPts val="0"/>
              </a:spcBef>
              <a:spcAft>
                <a:spcPts val="500"/>
              </a:spcAft>
            </a:pPr>
            <a:r>
              <a:rPr sz="1500" b="0" i="0">
                <a:solidFill>
                  <a:srgbClr val="000000"/>
                </a:solidFill>
                <a:latin typeface="SimSun"/>
              </a:rPr>
              <a:t>垃圾分类作为垃圾处理的前端环节，其作用早已得到世界的公认，分类处理不仅能大幅度减少环境污染，节约垃圾无害化处理的费用，更能使资源得到重复利用。有人将垃圾称为“放错地方的宝藏”，据保守估计，我国城市每年丢弃的可回收物价值在300 亿元左右。(1)从材料一提供的信息看出，目前，生活垃圾可分为四类，分别是()A.可回收物、厨余垃圾、有害垃圾、其他垃圾B.可回收物、生活垃圾、有害垃圾、其他垃圾C.可回收物、厨余垃圾、工业垃圾、其他垃圾D.农业垃圾、厨余垃圾、有害垃圾、其他垃圾</a:t>
            </a:r>
          </a:p>
          <a:p>
            <a:pPr algn="l">
              <a:lnSpc>
                <a:spcPct val="100000"/>
              </a:lnSpc>
              <a:spcBef>
                <a:spcPts val="0"/>
              </a:spcBef>
              <a:spcAft>
                <a:spcPts val="500"/>
              </a:spcAft>
            </a:pPr>
            <a:r>
              <a:rPr sz="1500" b="0" i="0">
                <a:solidFill>
                  <a:srgbClr val="000000"/>
                </a:solidFill>
                <a:latin typeface="SimSun"/>
              </a:rPr>
              <a:t>(2)仔细阅读材料二，说说露天堆放垃圾有什么危害。</a:t>
            </a:r>
          </a:p>
          <a:p>
            <a:pPr algn="l">
              <a:lnSpc>
                <a:spcPct val="100000"/>
              </a:lnSpc>
              <a:spcBef>
                <a:spcPts val="0"/>
              </a:spcBef>
              <a:spcAft>
                <a:spcPts val="500"/>
              </a:spcAft>
            </a:pPr>
            <a:r>
              <a:rPr sz="1500" b="0" i="0">
                <a:solidFill>
                  <a:srgbClr val="000000"/>
                </a:solidFill>
                <a:latin typeface="SimSun"/>
              </a:rPr>
              <a:t>(3)请结合垃圾分类的意义，写一则宣传语。</a:t>
            </a:r>
          </a:p>
          <a:p>
            <a:pPr algn="l">
              <a:lnSpc>
                <a:spcPct val="100000"/>
              </a:lnSpc>
              <a:spcBef>
                <a:spcPts val="0"/>
              </a:spcBef>
              <a:spcAft>
                <a:spcPts val="500"/>
              </a:spcAft>
            </a:pPr>
            <a:r>
              <a:rPr sz="1800" b="1" i="0">
                <a:solidFill>
                  <a:srgbClr val="FF0000"/>
                </a:solidFill>
                <a:latin typeface="SimSun"/>
              </a:rPr>
              <a:t>阅读答题技巧小纸条专题三--非连续性文本（6）</a:t>
            </a:r>
          </a:p>
          <a:p>
            <a:pPr algn="l">
              <a:lnSpc>
                <a:spcPct val="100000"/>
              </a:lnSpc>
              <a:spcBef>
                <a:spcPts val="0"/>
              </a:spcBef>
              <a:spcAft>
                <a:spcPts val="500"/>
              </a:spcAft>
            </a:pPr>
            <a:r>
              <a:rPr sz="1800" b="1" i="0">
                <a:solidFill>
                  <a:srgbClr val="C55E10"/>
                </a:solidFill>
                <a:latin typeface="SimSun"/>
              </a:rPr>
              <a:t>【图表占位：请参照原 PDF 图表】</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000000"/>
                </a:solidFill>
                <a:latin typeface="SimSun"/>
              </a:rPr>
              <a:t>是谁写的，什么内容。四合院也一样，生人到此，在门前一站，上下左右一瞧，对这家主人就能知道个大概，其是官宦还是商人?若是官员又是什么品级?是否王公贵族?有什么爵位?受过什么封赏?从这大门上都能找到记号，看到标志。如果要进去拜访，知道这些就不会失礼露怯。</a:t>
            </a:r>
          </a:p>
          <a:p>
            <a:pPr algn="l">
              <a:lnSpc>
                <a:spcPct val="100000"/>
              </a:lnSpc>
              <a:spcBef>
                <a:spcPts val="0"/>
              </a:spcBef>
              <a:spcAft>
                <a:spcPts val="500"/>
              </a:spcAft>
            </a:pPr>
            <a:r>
              <a:rPr sz="1500" b="0" i="0">
                <a:solidFill>
                  <a:srgbClr val="000000"/>
                </a:solidFill>
                <a:latin typeface="SimSun"/>
              </a:rPr>
              <a:t>(选自邓友梅《四合院》，有删改)
【材料二】</a:t>
            </a:r>
          </a:p>
          <a:p>
            <a:pPr algn="l">
              <a:lnSpc>
                <a:spcPct val="100000"/>
              </a:lnSpc>
              <a:spcBef>
                <a:spcPts val="0"/>
              </a:spcBef>
              <a:spcAft>
                <a:spcPts val="500"/>
              </a:spcAft>
            </a:pPr>
            <a:r>
              <a:rPr sz="1500" b="0" i="0">
                <a:solidFill>
                  <a:srgbClr val="000000"/>
                </a:solidFill>
                <a:latin typeface="SimSun"/>
              </a:rPr>
              <a:t>四合院，顾名思义，“四”就是东西南北四个方向，“合”就是合拢、围合，“院”就是庭院。四个方向的房屋把一个庭院围合在中间。四合院是中国传统住宅建筑最主要的形式。全国各地都能找到具有四合院特征的建筑，其中以北京四合院最为典型。</a:t>
            </a:r>
          </a:p>
          <a:p>
            <a:pPr algn="l">
              <a:lnSpc>
                <a:spcPct val="100000"/>
              </a:lnSpc>
              <a:spcBef>
                <a:spcPts val="0"/>
              </a:spcBef>
              <a:spcAft>
                <a:spcPts val="500"/>
              </a:spcAft>
            </a:pPr>
            <a:r>
              <a:rPr sz="1500" b="0" i="0">
                <a:solidFill>
                  <a:srgbClr val="000000"/>
                </a:solidFill>
                <a:latin typeface="SimSun"/>
              </a:rPr>
              <a:t>人们在描述四合院规模的时候，一般喜欢用“进”。简单来说，“进”就是院落，一进就是一个院落，以此类推。院落是四合院空间的基本单元，北京四合院是由一个个院落组合而成的。常见的空间类型有：一进院落、二进院落、三进院落、四进院落及一些大型复合型院落。标准的四合院是三进院落。这里所谓的“标准”，指它包含了北京四合院的所有必要特征，并满足三代同堂这样一种中国普遍的家庭模式的居住需求。</a:t>
            </a:r>
          </a:p>
          <a:p>
            <a:pPr algn="l">
              <a:lnSpc>
                <a:spcPct val="100000"/>
              </a:lnSpc>
              <a:spcBef>
                <a:spcPts val="0"/>
              </a:spcBef>
              <a:spcAft>
                <a:spcPts val="500"/>
              </a:spcAft>
            </a:pPr>
            <a:r>
              <a:rPr sz="1500" b="0" i="0">
                <a:solidFill>
                  <a:srgbClr val="000000"/>
                </a:solidFill>
                <a:latin typeface="SimSun"/>
              </a:rPr>
              <a:t>【材料三】</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800" b="0" i="0">
                <a:solidFill>
                  <a:srgbClr val="000000"/>
                </a:solidFill>
                <a:latin typeface="SimSun"/>
              </a:rPr>
              <a:t>七百多年前的元朝把都城建在大都，也就是今天的北京。元大都的规划方式，就是把各个四合院住宅进行统一的归置，住宅与住宅间形成的交通空间，就是“胡同”。到了明清，四合院住宅不断发展完善，北京的四合院住宅就有了“北京四合院”这个专有名词。</a:t>
            </a:r>
          </a:p>
          <a:p>
            <a:pPr algn="l">
              <a:lnSpc>
                <a:spcPct val="100000"/>
              </a:lnSpc>
              <a:spcBef>
                <a:spcPts val="0"/>
              </a:spcBef>
              <a:spcAft>
                <a:spcPts val="500"/>
              </a:spcAft>
            </a:pPr>
            <a:r>
              <a:rPr sz="1800" b="0" i="0">
                <a:solidFill>
                  <a:srgbClr val="000000"/>
                </a:solidFill>
                <a:latin typeface="SimSun"/>
              </a:rPr>
              <a:t>【材料四】</a:t>
            </a:r>
          </a:p>
          <a:p>
            <a:pPr algn="l">
              <a:lnSpc>
                <a:spcPct val="100000"/>
              </a:lnSpc>
              <a:spcBef>
                <a:spcPts val="0"/>
              </a:spcBef>
              <a:spcAft>
                <a:spcPts val="500"/>
              </a:spcAft>
            </a:pPr>
            <a:r>
              <a:rPr sz="1800" b="0" i="0">
                <a:solidFill>
                  <a:srgbClr val="000000"/>
                </a:solidFill>
                <a:latin typeface="SimSun"/>
              </a:rPr>
              <a:t>下面以三进四合院为例，鸟瞰一个标准四合院的组成。
四合院的建筑有一套固定的规格：北面称正房，坐北朝南；东西称厢房；南面称倒座房。中间是院子，整体由抄手游廊贯通。每个四合院都有一个入口，这就是正门，又叫街门或宅门。中国有“紫气东来”的说法，认为祥瑞的事物都来自东南方，所以四合院的正门大都修筑在整个院落的东南角。</a:t>
            </a:r>
          </a:p>
          <a:p>
            <a:pPr algn="l">
              <a:lnSpc>
                <a:spcPct val="100000"/>
              </a:lnSpc>
              <a:spcBef>
                <a:spcPts val="0"/>
              </a:spcBef>
              <a:spcAft>
                <a:spcPts val="500"/>
              </a:spcAft>
            </a:pPr>
            <a:r>
              <a:rPr sz="1800" b="0" i="0">
                <a:solidFill>
                  <a:srgbClr val="000000"/>
                </a:solidFill>
                <a:latin typeface="SimSun"/>
              </a:rPr>
              <a:t>(材料二至四均选自谢小振《四合院里的小时候》，有删改)
【材料五】</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000000"/>
                </a:solidFill>
                <a:latin typeface="SimSun"/>
              </a:rPr>
              <a:t>胡同和四合院是一体。胡同两边是若干四合院连接起来的。胡同、四合院，是北京市民的居住方式，也体现着城市文化。四合院是一个盒子。北京人理想的住家是“独门独院”。北京人也很讲究“处街坊”“远亲不如近邻”。“街坊里道”的，谁家有点事，婚丧嫁娶，都得“随”一点“份子”，道个喜或道个恼，不这样就不合“礼数”。但是平常日子，过往不多，除了有的街坊是棋友，“杀”一盘；有的是鸟友，不约而同，各晃着鸟笼，到天坛城根、玉渊潭去“会鸟”。此外，“各人自扫门前雪，休管他人瓦上霜”。</a:t>
            </a:r>
          </a:p>
          <a:p>
            <a:pPr algn="l">
              <a:lnSpc>
                <a:spcPct val="100000"/>
              </a:lnSpc>
              <a:spcBef>
                <a:spcPts val="0"/>
              </a:spcBef>
              <a:spcAft>
                <a:spcPts val="500"/>
              </a:spcAft>
            </a:pPr>
            <a:r>
              <a:rPr sz="1500" b="0" i="0">
                <a:solidFill>
                  <a:srgbClr val="000000"/>
                </a:solidFill>
                <a:latin typeface="SimSun"/>
              </a:rPr>
              <a:t>(选自汪曾祺《胡同文化》，有删改)1.结合材料进行判断，对的画“✔”，错的画“×”。</a:t>
            </a:r>
          </a:p>
          <a:p>
            <a:pPr algn="l">
              <a:lnSpc>
                <a:spcPct val="100000"/>
              </a:lnSpc>
              <a:spcBef>
                <a:spcPts val="0"/>
              </a:spcBef>
              <a:spcAft>
                <a:spcPts val="500"/>
              </a:spcAft>
            </a:pPr>
            <a:r>
              <a:rPr sz="1500" b="0" i="0">
                <a:solidFill>
                  <a:srgbClr val="000000"/>
                </a:solidFill>
                <a:latin typeface="SimSun"/>
              </a:rPr>
              <a:t>(1)元朝有了“北京四合院”这个专有名词。
()(2)标准四合院在建筑形式上讲究东西对称。
()(3)正房在后罩房的南面，在倒座房的北面。
()(4)中国有“紫气东来”的说法，四合院正门全建在院落的东南角。
()2.综合运用以上阅读材料，在“各具特色的民居”调查活动中做一次发言。根据要求，在方框中简要写出你的发言提纲。</a:t>
            </a:r>
          </a:p>
          <a:p>
            <a:pPr algn="l">
              <a:lnSpc>
                <a:spcPct val="100000"/>
              </a:lnSpc>
              <a:spcBef>
                <a:spcPts val="0"/>
              </a:spcBef>
              <a:spcAft>
                <a:spcPts val="500"/>
              </a:spcAft>
            </a:pPr>
            <a:r>
              <a:rPr sz="1500" b="0" i="0">
                <a:solidFill>
                  <a:srgbClr val="000000"/>
                </a:solidFill>
                <a:latin typeface="SimSun"/>
              </a:rPr>
              <a:t>(1)根据对材料的整体把握，给发言拟个题目，写在表格中。
(2)列出发言提纲(可以用文字、图示等形式呈现)。</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3733799"/>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200" b="0" i="0">
                <a:solidFill>
                  <a:srgbClr val="000000"/>
                </a:solidFill>
                <a:latin typeface="SimSun"/>
              </a:rPr>
              <a:t>具体要求：题目与提纲相符合；在提纲中注明详略安排；详细发言的部分，要体现出对至少两个不同材料的综合运用。</a:t>
            </a:r>
          </a:p>
          <a:p>
            <a:pPr algn="l">
              <a:lnSpc>
                <a:spcPct val="100000"/>
              </a:lnSpc>
              <a:spcBef>
                <a:spcPts val="0"/>
              </a:spcBef>
              <a:spcAft>
                <a:spcPts val="500"/>
              </a:spcAft>
            </a:pPr>
            <a:r>
              <a:rPr sz="2500" b="1" i="0">
                <a:solidFill>
                  <a:srgbClr val="000000"/>
                </a:solidFill>
                <a:latin typeface="SimSun"/>
              </a:rPr>
              <a:t>题目:《》</a:t>
            </a:r>
          </a:p>
          <a:p>
            <a:pPr algn="l">
              <a:lnSpc>
                <a:spcPct val="100000"/>
              </a:lnSpc>
              <a:spcBef>
                <a:spcPts val="0"/>
              </a:spcBef>
              <a:spcAft>
                <a:spcPts val="500"/>
              </a:spcAft>
            </a:pPr>
            <a:r>
              <a:rPr sz="2500" b="1" i="0">
                <a:solidFill>
                  <a:srgbClr val="000000"/>
                </a:solidFill>
                <a:latin typeface="SimSun"/>
              </a:rPr>
              <a:t>提纲</a:t>
            </a:r>
          </a:p>
          <a:p>
            <a:pPr algn="l">
              <a:lnSpc>
                <a:spcPct val="100000"/>
              </a:lnSpc>
              <a:spcBef>
                <a:spcPts val="0"/>
              </a:spcBef>
              <a:spcAft>
                <a:spcPts val="500"/>
              </a:spcAft>
            </a:pPr>
            <a:r>
              <a:rPr sz="2200" b="0" i="0">
                <a:solidFill>
                  <a:srgbClr val="000000"/>
                </a:solidFill>
                <a:latin typeface="SimSun"/>
              </a:rPr>
              <a:t>【巩固训练】阅读下面两则材料，完成练习。</a:t>
            </a:r>
          </a:p>
          <a:p>
            <a:pPr algn="l">
              <a:lnSpc>
                <a:spcPct val="100000"/>
              </a:lnSpc>
              <a:spcBef>
                <a:spcPts val="0"/>
              </a:spcBef>
              <a:spcAft>
                <a:spcPts val="500"/>
              </a:spcAft>
            </a:pPr>
            <a:r>
              <a:rPr sz="2200" b="0" i="0">
                <a:solidFill>
                  <a:srgbClr val="000000"/>
                </a:solidFill>
                <a:latin typeface="SimSun"/>
              </a:rPr>
              <a:t>【材料一】</a:t>
            </a:r>
          </a:p>
          <a:p>
            <a:pPr algn="l">
              <a:lnSpc>
                <a:spcPct val="100000"/>
              </a:lnSpc>
              <a:spcBef>
                <a:spcPts val="0"/>
              </a:spcBef>
              <a:spcAft>
                <a:spcPts val="500"/>
              </a:spcAft>
            </a:pPr>
            <a:r>
              <a:rPr sz="2200" b="0" i="0">
                <a:solidFill>
                  <a:srgbClr val="000000"/>
                </a:solidFill>
                <a:latin typeface="SimSun"/>
              </a:rPr>
              <a:t>【图表占位：请参照原 PDF 图表】</a:t>
            </a:r>
          </a:p>
        </p:txBody>
      </p:sp>
      <p:pic>
        <p:nvPicPr>
          <p:cNvPr id="3" name="Picture 2" descr="image.jpg"/>
          <p:cNvPicPr>
            <a:picLocks noChangeAspect="1"/>
          </p:cNvPicPr>
          <p:nvPr/>
        </p:nvPicPr>
        <p:blipFill>
          <a:blip r:embed="rId2"/>
          <a:stretch>
            <a:fillRect/>
          </a:stretch>
        </p:blipFill>
        <p:spPr>
          <a:xfrm>
            <a:off x="4651937" y="4307840"/>
            <a:ext cx="2888123" cy="219456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200" b="0" i="0">
                <a:solidFill>
                  <a:srgbClr val="000000"/>
                </a:solidFill>
                <a:latin typeface="SimSun"/>
              </a:rPr>
              <a:t>为什么选择B 型车而不选择A 型车呢?相关专家透露，标准的B 型车车体的长度、宽度要小于A 型车，所以B</a:t>
            </a:r>
          </a:p>
          <a:p>
            <a:pPr algn="l">
              <a:lnSpc>
                <a:spcPct val="100000"/>
              </a:lnSpc>
              <a:spcBef>
                <a:spcPts val="0"/>
              </a:spcBef>
              <a:spcAft>
                <a:spcPts val="500"/>
              </a:spcAft>
            </a:pPr>
            <a:r>
              <a:rPr sz="2200" b="0" i="0">
                <a:solidFill>
                  <a:srgbClr val="000000"/>
                </a:solidFill>
                <a:latin typeface="SimSun"/>
              </a:rPr>
              <a:t>型车比A 型车造价便宜得多，开挖地铁站时土建结构造价成本也随之下降。目前北京所有的地铁均选用B 型车，</a:t>
            </a:r>
          </a:p>
          <a:p>
            <a:pPr algn="l">
              <a:lnSpc>
                <a:spcPct val="100000"/>
              </a:lnSpc>
              <a:spcBef>
                <a:spcPts val="0"/>
              </a:spcBef>
              <a:spcAft>
                <a:spcPts val="500"/>
              </a:spcAft>
            </a:pPr>
            <a:r>
              <a:rPr sz="2200" b="0" i="0">
                <a:solidFill>
                  <a:srgbClr val="000000"/>
                </a:solidFill>
                <a:latin typeface="SimSun"/>
              </a:rPr>
              <a:t>我国拥有地铁的城市绝大多数采用B 型车。
【材料二】</a:t>
            </a:r>
          </a:p>
          <a:p>
            <a:pPr algn="l">
              <a:lnSpc>
                <a:spcPct val="100000"/>
              </a:lnSpc>
              <a:spcBef>
                <a:spcPts val="0"/>
              </a:spcBef>
              <a:spcAft>
                <a:spcPts val="500"/>
              </a:spcAft>
            </a:pPr>
            <a:r>
              <a:rPr sz="2200" b="0" i="0">
                <a:solidFill>
                  <a:srgbClr val="000000"/>
                </a:solidFill>
                <a:latin typeface="SimSun"/>
              </a:rPr>
              <a:t>【材料三】</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3733799"/>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500" b="0" i="0">
                <a:solidFill>
                  <a:srgbClr val="000000"/>
                </a:solidFill>
                <a:latin typeface="SimSun"/>
              </a:rPr>
              <a:t>任务1：请你为“东莞地铁宣传栏”拟一条合适的宣传标语。(2 分)</a:t>
            </a:r>
          </a:p>
          <a:p>
            <a:pPr algn="l">
              <a:lnSpc>
                <a:spcPct val="100000"/>
              </a:lnSpc>
              <a:spcBef>
                <a:spcPts val="0"/>
              </a:spcBef>
              <a:spcAft>
                <a:spcPts val="500"/>
              </a:spcAft>
            </a:pPr>
            <a:r>
              <a:rPr sz="1500" b="0" i="0">
                <a:solidFill>
                  <a:srgbClr val="000000"/>
                </a:solidFill>
                <a:latin typeface="SimSun"/>
              </a:rPr>
              <a:t>任务2：复兴小学二年级学生参观东莞地铁，他们想知道如何买地铁票，你应推荐他们阅读宣传栏中的材料</a:t>
            </a:r>
          </a:p>
          <a:p>
            <a:pPr algn="l">
              <a:lnSpc>
                <a:spcPct val="100000"/>
              </a:lnSpc>
              <a:spcBef>
                <a:spcPts val="0"/>
              </a:spcBef>
              <a:spcAft>
                <a:spcPts val="500"/>
              </a:spcAft>
            </a:pPr>
            <a:r>
              <a:rPr sz="1500" b="0" i="0">
                <a:solidFill>
                  <a:srgbClr val="000000"/>
                </a:solidFill>
                <a:latin typeface="SimSun"/>
              </a:rPr>
              <a:t>；有同学想知道东莞规划了哪几条地铁，你应推荐他们阅读材料；还有同学想了解东莞地铁的时速，</a:t>
            </a:r>
          </a:p>
          <a:p>
            <a:pPr algn="l">
              <a:lnSpc>
                <a:spcPct val="100000"/>
              </a:lnSpc>
              <a:spcBef>
                <a:spcPts val="0"/>
              </a:spcBef>
              <a:spcAft>
                <a:spcPts val="500"/>
              </a:spcAft>
            </a:pPr>
            <a:r>
              <a:rPr sz="1500" b="0" i="0">
                <a:solidFill>
                  <a:srgbClr val="000000"/>
                </a:solidFill>
                <a:latin typeface="SimSun"/>
              </a:rPr>
              <a:t>你应推荐他们阅读材料。(3 分)</a:t>
            </a:r>
          </a:p>
          <a:p>
            <a:pPr algn="l">
              <a:lnSpc>
                <a:spcPct val="100000"/>
              </a:lnSpc>
              <a:spcBef>
                <a:spcPts val="0"/>
              </a:spcBef>
              <a:spcAft>
                <a:spcPts val="500"/>
              </a:spcAft>
            </a:pPr>
            <a:r>
              <a:rPr sz="1500" b="0" i="0">
                <a:solidFill>
                  <a:srgbClr val="000000"/>
                </a:solidFill>
                <a:latin typeface="SimSun"/>
              </a:rPr>
              <a:t>任务3：二年级学生阅读材料一有困难，请你为他们介绍东莞轨道交通运行系统选择的车型及选择原因。(3 分)</a:t>
            </a:r>
          </a:p>
          <a:p>
            <a:pPr algn="l">
              <a:lnSpc>
                <a:spcPct val="100000"/>
              </a:lnSpc>
              <a:spcBef>
                <a:spcPts val="0"/>
              </a:spcBef>
              <a:spcAft>
                <a:spcPts val="500"/>
              </a:spcAft>
            </a:pPr>
            <a:r>
              <a:rPr sz="1500" b="0" i="0">
                <a:solidFill>
                  <a:srgbClr val="000000"/>
                </a:solidFill>
                <a:latin typeface="SimSun"/>
              </a:rPr>
              <a:t>任务4：家住塘厦镇政府附近的张爷爷打来电话咨询，他要去茶山看孙子，请你告诉张爷爷他该如何换乘才用时最少，注意要提醒他换乘地点和方向。(3 分)</a:t>
            </a:r>
          </a:p>
          <a:p>
            <a:pPr algn="l">
              <a:lnSpc>
                <a:spcPct val="100000"/>
              </a:lnSpc>
              <a:spcBef>
                <a:spcPts val="0"/>
              </a:spcBef>
              <a:spcAft>
                <a:spcPts val="500"/>
              </a:spcAft>
            </a:pPr>
            <a:r>
              <a:rPr sz="1500" b="0" i="0">
                <a:solidFill>
                  <a:srgbClr val="000000"/>
                </a:solidFill>
                <a:latin typeface="SimSun"/>
              </a:rPr>
              <a:t>任务5：张爷爷年纪大了，没有手机支付，准备带现金买票。塘厦镇政府到茶山的票价为9 元，请你根据地铁自动售票机的使用规则，提醒张爷爷带现金的注意事项。(3 分)</a:t>
            </a:r>
          </a:p>
        </p:txBody>
      </p:sp>
      <p:pic>
        <p:nvPicPr>
          <p:cNvPr id="3" name="Picture 2" descr="image.jpg"/>
          <p:cNvPicPr>
            <a:picLocks noChangeAspect="1"/>
          </p:cNvPicPr>
          <p:nvPr/>
        </p:nvPicPr>
        <p:blipFill>
          <a:blip r:embed="rId2"/>
          <a:stretch>
            <a:fillRect/>
          </a:stretch>
        </p:blipFill>
        <p:spPr>
          <a:xfrm>
            <a:off x="1339179" y="4307840"/>
            <a:ext cx="4052640" cy="2194560"/>
          </a:xfrm>
          <a:prstGeom prst="rect">
            <a:avLst/>
          </a:prstGeom>
        </p:spPr>
      </p:pic>
      <p:pic>
        <p:nvPicPr>
          <p:cNvPr id="4" name="Picture 3" descr="image.jpg"/>
          <p:cNvPicPr>
            <a:picLocks noChangeAspect="1"/>
          </p:cNvPicPr>
          <p:nvPr/>
        </p:nvPicPr>
        <p:blipFill>
          <a:blip r:embed="rId3"/>
          <a:stretch>
            <a:fillRect/>
          </a:stretch>
        </p:blipFill>
        <p:spPr>
          <a:xfrm>
            <a:off x="5544220" y="4694520"/>
            <a:ext cx="5308599" cy="1421199"/>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1800" b="1" i="0">
                <a:solidFill>
                  <a:srgbClr val="FF0000"/>
                </a:solidFill>
                <a:latin typeface="SimSun"/>
              </a:rPr>
              <a:t>小学语文阅读答题技巧训练知识点汇总表</a:t>
            </a:r>
          </a:p>
          <a:p>
            <a:pPr algn="l">
              <a:lnSpc>
                <a:spcPct val="100000"/>
              </a:lnSpc>
              <a:spcBef>
                <a:spcPts val="0"/>
              </a:spcBef>
              <a:spcAft>
                <a:spcPts val="500"/>
              </a:spcAft>
            </a:pPr>
            <a:r>
              <a:rPr sz="1800" b="1" i="0">
                <a:solidFill>
                  <a:srgbClr val="0000FF"/>
                </a:solidFill>
                <a:latin typeface="SimSun"/>
              </a:rPr>
              <a:t>一、现代文阅读</a:t>
            </a:r>
          </a:p>
          <a:p>
            <a:pPr algn="l">
              <a:lnSpc>
                <a:spcPct val="100000"/>
              </a:lnSpc>
              <a:spcBef>
                <a:spcPts val="0"/>
              </a:spcBef>
              <a:spcAft>
                <a:spcPts val="500"/>
              </a:spcAft>
            </a:pPr>
            <a:r>
              <a:rPr sz="1800" b="1" i="0">
                <a:solidFill>
                  <a:srgbClr val="EE822F"/>
                </a:solidFill>
                <a:latin typeface="SimSun"/>
              </a:rPr>
              <a:t>（一）说明文</a:t>
            </a:r>
          </a:p>
          <a:p>
            <a:pPr algn="l">
              <a:lnSpc>
                <a:spcPct val="100000"/>
              </a:lnSpc>
              <a:spcBef>
                <a:spcPts val="0"/>
              </a:spcBef>
              <a:spcAft>
                <a:spcPts val="500"/>
              </a:spcAft>
            </a:pPr>
            <a:r>
              <a:rPr sz="1500" b="1" i="0">
                <a:solidFill>
                  <a:srgbClr val="EF939E"/>
                </a:solidFill>
                <a:latin typeface="Calibri"/>
              </a:rPr>
              <a:t>1、说明方法
①列数字答题模板：运用了列数字的说明方法，举出**具体、真实的数据，准确清晰、直观地说明了**事物的**特征/事理，使文章更具有说服力和真实性。
②举例子答题模板：运用了举例子的说明方法，举出**具体形象/真实贴切的例子，说明了**事物的**特征/事理，使说明更有说服力。
③作比较答题模板：运用了作比较的说明方法，把……和……作比较，突出说明了（说明对象）……的特征（道理），让读者留下具体清晰的印象。
④打比方答题模板：运用了打比方的说明方法，将……比作……，形象生动地说明了(说明对象)……的特征(道理)，使说明的内容更形象生动，增强了文章的趣味性。2、常见题型：“**”词能不能删？为什么？答题模板：不能删去。“xx”的意思是……,写出了……。如果删去，意思发生改变（可结合句子），与事实不符，这里体现了说明文语言的准确性，严谨性和科学性。（不能删去的词语一般起限定时间、程度、数量、范围，表估计或推测的作用。）3、常见题型：“xx”词能不能换成“xx”？为什么？答题模板：不能换。“xx”的意思是……,这句话写出了……。“xx”（所换次）的意思是……,这句话变成了……，意思有所改变,与实际情况不符。“xx”一次的使用体现了说明文语言的准确性、严谨性。（二）记叙文</a:t>
            </a:r>
          </a:p>
          <a:p>
            <a:pPr algn="l">
              <a:lnSpc>
                <a:spcPct val="100000"/>
              </a:lnSpc>
              <a:spcBef>
                <a:spcPts val="0"/>
              </a:spcBef>
              <a:spcAft>
                <a:spcPts val="500"/>
              </a:spcAft>
            </a:pPr>
            <a:r>
              <a:rPr sz="1800" b="1" i="0">
                <a:solidFill>
                  <a:srgbClr val="30C0B4"/>
                </a:solidFill>
                <a:latin typeface="Calibri"/>
              </a:rPr>
              <a:t>【图表占位：请参照原 PDF 图表】</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1200" y="355600"/>
            <a:ext cx="10769599" cy="6146800"/>
          </a:xfrm>
          <a:prstGeom prst="rect">
            <a:avLst/>
          </a:prstGeom>
          <a:noFill/>
        </p:spPr>
        <p:txBody>
          <a:bodyPr wrap="square" lIns="101600" rIns="101600" tIns="38100" bIns="38100" anchor="t">
            <a:normAutofit/>
          </a:bodyPr>
          <a:lstStyle/>
          <a:p>
            <a:pPr algn="l">
              <a:lnSpc>
                <a:spcPct val="100000"/>
              </a:lnSpc>
              <a:spcBef>
                <a:spcPts val="0"/>
              </a:spcBef>
              <a:spcAft>
                <a:spcPts val="500"/>
              </a:spcAft>
            </a:pPr>
            <a:r>
              <a:rPr sz="2200" b="0" i="0">
                <a:solidFill>
                  <a:srgbClr val="000000"/>
                </a:solidFill>
                <a:latin typeface="SimSun"/>
              </a:rPr>
              <a:t>【图表占位：请参照原 PDF 图表】</a:t>
            </a:r>
          </a:p>
          <a:p>
            <a:pPr algn="l">
              <a:lnSpc>
                <a:spcPct val="100000"/>
              </a:lnSpc>
              <a:spcBef>
                <a:spcPts val="0"/>
              </a:spcBef>
              <a:spcAft>
                <a:spcPts val="500"/>
              </a:spcAft>
            </a:pPr>
            <a:r>
              <a:rPr sz="2200" b="1" i="0">
                <a:solidFill>
                  <a:srgbClr val="75BD42"/>
                </a:solidFill>
                <a:latin typeface="Calibri"/>
              </a:rPr>
              <a:t>1、筛选主要信息题：概括材料的主要信息答题思路：①关注文章题目。连续性文本阅读的题目就是针对某个现象提出的一些问题，把文章标题归纳起来，就会概括出文章的主要内容。②直接提取主要信息。按照题目要求，从阅读材料中直接</a:t>
            </a:r>
          </a:p>
          <a:p>
            <a:pPr algn="l">
              <a:lnSpc>
                <a:spcPct val="100000"/>
              </a:lnSpc>
              <a:spcBef>
                <a:spcPts val="0"/>
              </a:spcBef>
              <a:spcAft>
                <a:spcPts val="500"/>
              </a:spcAft>
            </a:pPr>
            <a:r>
              <a:rPr sz="2200" b="0" i="0">
                <a:solidFill>
                  <a:srgbClr val="000000"/>
                </a:solidFill>
                <a:latin typeface="SimSun"/>
              </a:rPr>
              <a:t>【图表占位：请参照原 PDF 图表】</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